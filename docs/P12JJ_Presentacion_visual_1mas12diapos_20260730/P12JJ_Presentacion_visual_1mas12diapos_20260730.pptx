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68" r:id="rId2"/>
    <p:sldId id="256" r:id="rId3"/>
    <p:sldId id="257" r:id="rId4"/>
    <p:sldId id="258" r:id="rId5"/>
    <p:sldId id="259" r:id="rId6"/>
    <p:sldId id="260" r:id="rId7"/>
    <p:sldId id="261" r:id="rId8"/>
    <p:sldId id="262" r:id="rId9"/>
    <p:sldId id="264" r:id="rId10"/>
    <p:sldId id="265" r:id="rId11"/>
    <p:sldId id="266" r:id="rId12"/>
    <p:sldId id="263" r:id="rId13"/>
    <p:sldId id="267"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4472C4"/>
    <a:srgbClr val="2784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2311" autoAdjust="0"/>
  </p:normalViewPr>
  <p:slideViewPr>
    <p:cSldViewPr snapToGrid="0" snapToObjects="1">
      <p:cViewPr varScale="1">
        <p:scale>
          <a:sx n="48" d="100"/>
          <a:sy n="48" d="100"/>
        </p:scale>
        <p:origin x="1340"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800" b="0" i="0" u="none" strike="noStrike">
                <a:solidFill>
                  <a:srgbClr val="1A2A33"/>
                </a:solidFill>
                <a:latin typeface="Consolas"/>
              </a:defRPr>
            </a:pPr>
            <a:r>
              <a:rPr lang="es-ES" sz="1800" b="0" i="0" u="none" strike="noStrike" noProof="0">
                <a:solidFill>
                  <a:srgbClr val="1A2A33"/>
                </a:solidFill>
                <a:latin typeface="Consolas"/>
              </a:rPr>
              <a:t>Aciertos sobre 20 preguntas</a:t>
            </a:r>
          </a:p>
        </c:rich>
      </c:tx>
      <c:overlay val="0"/>
    </c:title>
    <c:autoTitleDeleted val="0"/>
    <c:plotArea>
      <c:layout/>
      <c:barChart>
        <c:barDir val="col"/>
        <c:grouping val="clustered"/>
        <c:varyColors val="0"/>
        <c:ser>
          <c:idx val="0"/>
          <c:order val="0"/>
          <c:tx>
            <c:strRef>
              <c:f>Sheet1!$B$1</c:f>
              <c:strCache>
                <c:ptCount val="1"/>
                <c:pt idx="0">
                  <c:v>Respuestas plenamente correctas</c:v>
                </c:pt>
              </c:strCache>
            </c:strRef>
          </c:tx>
          <c:spPr>
            <a:solidFill>
              <a:srgbClr val="4472C4"/>
            </a:solidFill>
            <a:effectLst/>
          </c:spPr>
          <c:invertIfNegative val="0"/>
          <c:dLbls>
            <c:numFmt formatCode="#,##0" sourceLinked="0"/>
            <c:spPr>
              <a:noFill/>
              <a:ln>
                <a:noFill/>
              </a:ln>
              <a:effectLst/>
            </c:spPr>
            <c:txPr>
              <a:bodyPr/>
              <a:lstStyle/>
              <a:p>
                <a:pPr>
                  <a:defRPr sz="2200" b="1" i="0" u="none" strike="noStrike">
                    <a:solidFill>
                      <a:srgbClr val="1A2A33"/>
                    </a:solidFill>
                    <a:latin typeface="Consola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llama-3.1-8b</c:v>
                </c:pt>
                <c:pt idx="1">
                  <c:v>gpt-oss-20b</c:v>
                </c:pt>
                <c:pt idx="2">
                  <c:v>gpt-oss-120b</c:v>
                </c:pt>
              </c:strCache>
            </c:strRef>
          </c:cat>
          <c:val>
            <c:numRef>
              <c:f>Sheet1!$B$2:$B$4</c:f>
              <c:numCache>
                <c:formatCode>General</c:formatCode>
                <c:ptCount val="3"/>
                <c:pt idx="0">
                  <c:v>17</c:v>
                </c:pt>
                <c:pt idx="1">
                  <c:v>18</c:v>
                </c:pt>
                <c:pt idx="2">
                  <c:v>19</c:v>
                </c:pt>
              </c:numCache>
            </c:numRef>
          </c:val>
          <c:extLst>
            <c:ext xmlns:c16="http://schemas.microsoft.com/office/drawing/2014/chart" uri="{C3380CC4-5D6E-409C-BE32-E72D297353CC}">
              <c16:uniqueId val="{00000000-D033-46D1-B092-23BCC93DD7D7}"/>
            </c:ext>
          </c:extLst>
        </c:ser>
        <c:dLbls>
          <c:showLegendKey val="0"/>
          <c:showVal val="1"/>
          <c:showCatName val="0"/>
          <c:showSerName val="0"/>
          <c:showPercent val="0"/>
          <c:showBubbleSize val="0"/>
        </c:dLbls>
        <c:gapWidth val="11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6B7280"/>
                </a:solidFill>
                <a:latin typeface="Consolas"/>
              </a:defRPr>
            </a:pPr>
            <a:endParaRPr lang="en-US"/>
          </a:p>
        </c:txPr>
        <c:crossAx val="2094734552"/>
        <c:crosses val="autoZero"/>
        <c:auto val="1"/>
        <c:lblAlgn val="ctr"/>
        <c:lblOffset val="100"/>
        <c:noMultiLvlLbl val="1"/>
      </c:catAx>
      <c:valAx>
        <c:axId val="2094734552"/>
        <c:scaling>
          <c:orientation val="minMax"/>
          <c:max val="20"/>
          <c:min val="0"/>
        </c:scaling>
        <c:delete val="0"/>
        <c:axPos val="l"/>
        <c:majorGridlines>
          <c:spPr>
            <a:ln w="6350" cap="flat">
              <a:solidFill>
                <a:srgbClr val="CFD8DC"/>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300" b="1" i="0" u="none" strike="noStrike">
                <a:solidFill>
                  <a:srgbClr val="6B7280"/>
                </a:solidFill>
                <a:latin typeface="Consolas"/>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9051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endParaRPr lang="es-ES" dirty="0"/>
          </a:p>
        </p:txBody>
      </p:sp>
    </p:spTree>
    <p:extLst>
      <p:ext uri="{BB962C8B-B14F-4D97-AF65-F5344CB8AC3E}">
        <p14:creationId xmlns:p14="http://schemas.microsoft.com/office/powerpoint/2010/main" val="2137561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Buenos días. Me llamo Jose-Julio Ramírez y Sánchez-Escobar. Si queréis podéis llamarme JJ.</a:t>
            </a:r>
          </a:p>
          <a:p>
            <a:r>
              <a:rPr lang="es-ES" dirty="0"/>
              <a:t>AMAFE Responde: nace con la idea de ser un asistente al que se le pregunta en lenguaje natural y que responde usando únicamente la documentación pública de AMAFE. Solo esa. Si la respuesta no está ahí, lo dice.</a:t>
            </a:r>
          </a:p>
          <a:p>
            <a:r>
              <a:rPr lang="es-ES" dirty="0"/>
              <a:t>Es un proyecto individual.</a:t>
            </a:r>
          </a:p>
          <a:p>
            <a:r>
              <a:rPr lang="es-ES" dirty="0"/>
              <a:t>No es una herramienta oficial de AMAFE. Es un ofrecimiento, la asociación tiene derecho a rechazarlo.</a:t>
            </a:r>
          </a:p>
          <a:p>
            <a:r>
              <a:rPr lang="es-ES" dirty="0"/>
              <a:t>Pego en el chat el repositorio y las dos aplicaciones en vivo, por si alguien quiere ir siguiéndolo mientras hablo. El hilo de estos veinte minutos es uno: cada decisión que voy a contar tiene detrás una medición. Incluidas las que salieron mal.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Diapositiva:	02 de 12</a:t>
            </a:r>
          </a:p>
          <a:p>
            <a:r>
              <a:rPr lang="es-ES" dirty="0"/>
              <a:t>Notas del Orador:	(parte 01 de 01)</a:t>
            </a:r>
          </a:p>
          <a:p>
            <a:r>
              <a:rPr lang="es-ES" dirty="0"/>
              <a:t>EL CONTEXTO</a:t>
            </a:r>
          </a:p>
          <a:p>
            <a:r>
              <a:rPr lang="es-ES" dirty="0"/>
              <a:t>La historia de AMAFE.</a:t>
            </a:r>
          </a:p>
          <a:p>
            <a:r>
              <a:rPr lang="es-ES" dirty="0"/>
              <a:t>El 11 de noviembre de 1989 se funda AMAFE en Madrid. Los primeros años son los de una asociación pequeña que va llamando a todas las puertas: Los Estatutos, Hacienda... Primera asamblea de socios en 1990. Y en 1991 se autoriza su Servicio de Información y Orientación, que tenía un nombre que parece que lo cuenta todo: el Cuarto de Estar AMAFE. Antes que un servicio, un lugar donde estar. Hoy ese servicio se llama SIO — siglas de Servicio de Información y Orientación — y sigue siendo la puerta de entrada a la asociación. En 1996 llega la declaración de Utilidad Pública. Y hoy AMAFE es la Asociación Española de Apoyo en Psicosis: acompaña a personas con problemas de Salud Mental y a sus familias, con escuelas de familias, grupos de apoyo, empleo y formación, el Espacio Joven, Proyectos Europeos. </a:t>
            </a:r>
          </a:p>
          <a:p>
            <a:r>
              <a:rPr lang="es-ES" dirty="0"/>
              <a:t>Soy socio. </a:t>
            </a:r>
          </a:p>
          <a:p>
            <a:r>
              <a:rPr lang="es-ES" dirty="0"/>
              <a:t>En la página web de AMAFE (https://www.amafe.org) se pueden encontrar texto, memorias, boletines, auditorías, vídeos. La idea de este proyecto es facilitar el acceso a dicha información.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kern="1200" dirty="0">
                <a:solidFill>
                  <a:schemeClr val="tx1"/>
                </a:solidFill>
                <a:effectLst/>
                <a:latin typeface="+mn-lt"/>
                <a:ea typeface="+mn-ea"/>
                <a:cs typeface="+mn-cs"/>
              </a:rPr>
              <a:t>Diapositiva:	03 de 12</a:t>
            </a:r>
          </a:p>
          <a:p>
            <a:r>
              <a:rPr lang="es-ES" sz="1200" kern="1200" dirty="0">
                <a:solidFill>
                  <a:schemeClr val="tx1"/>
                </a:solidFill>
                <a:effectLst/>
                <a:latin typeface="+mn-lt"/>
                <a:ea typeface="+mn-ea"/>
                <a:cs typeface="+mn-cs"/>
              </a:rPr>
              <a:t>Notas del Orador:	(parte 01 de 01)</a:t>
            </a:r>
          </a:p>
          <a:p>
            <a:r>
              <a:rPr lang="es-ES" sz="1200" kern="1200" dirty="0">
                <a:solidFill>
                  <a:schemeClr val="tx1"/>
                </a:solidFill>
                <a:effectLst/>
                <a:latin typeface="+mn-lt"/>
                <a:ea typeface="+mn-ea"/>
                <a:cs typeface="+mn-cs"/>
              </a:rPr>
              <a:t>PUNTO DE PARTIDA</a:t>
            </a:r>
          </a:p>
          <a:p>
            <a:r>
              <a:rPr lang="es-ES" sz="1200" kern="1200" dirty="0">
                <a:solidFill>
                  <a:schemeClr val="tx1"/>
                </a:solidFill>
                <a:effectLst/>
                <a:latin typeface="+mn-lt"/>
                <a:ea typeface="+mn-ea"/>
                <a:cs typeface="+mn-cs"/>
              </a:rPr>
              <a:t>El reto, tres conceptos: RESPONDER, CITAR, NO SÉ,… y que todo quede registrado.</a:t>
            </a:r>
          </a:p>
          <a:p>
            <a:r>
              <a:rPr lang="es-ES" sz="1200" kern="1200" dirty="0">
                <a:solidFill>
                  <a:schemeClr val="tx1"/>
                </a:solidFill>
                <a:effectLst/>
                <a:latin typeface="+mn-lt"/>
                <a:ea typeface="+mn-ea"/>
                <a:cs typeface="+mn-cs"/>
              </a:rPr>
              <a:t>Responder solo con la documentación pública, con lo que hay en el corpus.</a:t>
            </a:r>
          </a:p>
          <a:p>
            <a:r>
              <a:rPr lang="es-ES" sz="1200" kern="1200" dirty="0">
                <a:solidFill>
                  <a:schemeClr val="tx1"/>
                </a:solidFill>
                <a:effectLst/>
                <a:latin typeface="+mn-lt"/>
                <a:ea typeface="+mn-ea"/>
                <a:cs typeface="+mn-cs"/>
              </a:rPr>
              <a:t>Citar siempre las fuentes, para que cualquier persona pueda comprobar de dónde sale cada dato.</a:t>
            </a:r>
          </a:p>
          <a:p>
            <a:r>
              <a:rPr lang="es-ES" sz="1200" kern="1200" dirty="0">
                <a:solidFill>
                  <a:schemeClr val="tx1"/>
                </a:solidFill>
                <a:effectLst/>
                <a:latin typeface="+mn-lt"/>
                <a:ea typeface="+mn-ea"/>
                <a:cs typeface="+mn-cs"/>
              </a:rPr>
              <a:t>No sé: cuando la respuesta no está en la documentación. Decir «no lo sé» para un modelo de lenguaje es difícil, quiere responder siempre; rellenar huecos con cosas plausibles es lo que sabe hacer. Un dato inventado —un teléfono, un horario— puede perjudicar a una persona que llama pidiendo ayuda.</a:t>
            </a:r>
          </a:p>
          <a:p>
            <a:r>
              <a:rPr lang="es-ES" sz="1200" kern="1200" dirty="0">
                <a:solidFill>
                  <a:schemeClr val="tx1"/>
                </a:solidFill>
                <a:effectLst/>
                <a:latin typeface="+mn-lt"/>
                <a:ea typeface="+mn-ea"/>
                <a:cs typeface="+mn-cs"/>
              </a:rPr>
              <a:t>Además: ninguna decisión técnica sin un dato que la respalde, y todas registradas con su identificador y su evidencia.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sz="1200" dirty="0">
                <a:latin typeface="Consolas" panose="020B0609020204030204" pitchFamily="49" charset="0"/>
              </a:rPr>
              <a:t>ARQUITECTURA · CONSTRUCCIÓN</a:t>
            </a:r>
          </a:p>
          <a:p>
            <a:r>
              <a:rPr lang="es-ES" sz="1200" dirty="0">
                <a:latin typeface="Consolas" panose="020B0609020204030204" pitchFamily="49" charset="0"/>
              </a:rPr>
              <a:t>Cómo se construye</a:t>
            </a:r>
          </a:p>
          <a:p>
            <a:r>
              <a:rPr lang="es-ES" sz="1200" dirty="0">
                <a:latin typeface="Consolas" panose="020B0609020204030204" pitchFamily="49" charset="0"/>
              </a:rPr>
              <a:t>web pública</a:t>
            </a:r>
          </a:p>
          <a:p>
            <a:r>
              <a:rPr lang="es-ES" sz="1200" dirty="0">
                <a:latin typeface="Consolas" panose="020B0609020204030204" pitchFamily="49" charset="0"/>
              </a:rPr>
              <a:t>limpiar</a:t>
            </a:r>
          </a:p>
          <a:p>
            <a:r>
              <a:rPr lang="es-ES" sz="1200" dirty="0">
                <a:latin typeface="Consolas" panose="020B0609020204030204" pitchFamily="49" charset="0"/>
              </a:rPr>
              <a:t>trocear</a:t>
            </a:r>
          </a:p>
          <a:p>
            <a:r>
              <a:rPr lang="es-ES" sz="1200" dirty="0">
                <a:latin typeface="Consolas" panose="020B0609020204030204" pitchFamily="49" charset="0"/>
              </a:rPr>
              <a:t>vectorizar</a:t>
            </a:r>
          </a:p>
          <a:p>
            <a:r>
              <a:rPr lang="es-ES" sz="1200" dirty="0">
                <a:latin typeface="Consolas" panose="020B0609020204030204" pitchFamily="49" charset="0"/>
              </a:rPr>
              <a:t>Primera mitad de la arquitectura: cómo se construye, una sola vez, la biblioteca del sistema. Se parte de la web pública de AMAFE, descargada con un rastreador propio en una fase previa. Se limpia: fuera los menús y pies repetidos, fuera los duplicados, y fuera 159 fragmentos que eran enlaces caducados — detectados por un filtro estadístico - . Se trocea por párrafos: fragmentos de unos mil caracteres. La mediana es el valor del medio: la mitad de los fragmentos son más cortos y la otra mitad más largos. La mediana obtenida real del corpus son 858 caracteres, unas 130 palabras. </a:t>
            </a:r>
          </a:p>
          <a:p>
            <a:r>
              <a:rPr lang="es-ES" sz="1200" dirty="0">
                <a:latin typeface="Consolas" panose="020B0609020204030204" pitchFamily="49" charset="0"/>
              </a:rPr>
              <a:t>Hay un párrafo de solape entre consecutivos, para no cortar ideas por la mitad. Quedan 605 fragmentos: 408 en español y 197 en inglés, cada uno con su título, su dirección de origen, su idioma y su fecha. De esos metadatos saldrán luego las citas. Y se vectoriza (convertir cada fragmento en una lista de números que representa su significado). Aquí conviene separar dos números que se confunden. El modelo de huellas lee hasta 128 tokens de cada fragmento. Un token es la unidad en que el modelo parte el texto: más o menos una palabra corta o un trozo de una palabra larga; 128 tokens son, en español, unas ochenta o noventa palabras. Se devuelve siempre una huella de exactamente 384 números, que representa el significado. Tokens y dimensiones no son lo mismo: los tokens miden cuánto texto entra; las dimensiones son cuántos números tiene la huella que sale — aquí, siempre 384. Y esa ventana de lectura tiene una consecuencia que he medido sobre el corpus entero: como el fragmento típico son 130 palabras y la ventana lee unas 85, el 85 % de los fragmentos no cabe entero: su huella representa sobre todo el comienzo. Es la limitación más importante de todo el sistema, y volverá a salir. Las 605 huellas se guardan en una base vectorial de siete megas — una base vectorial es un almacén especializado en guardar esas listas de números y encontrar muy rápido las más parecidas a una dada — que va versionada dentro del repositorio: la aplicación arranca en la nube sin reindexar nada.</a:t>
            </a:r>
          </a:p>
          <a:p>
            <a:endParaRPr lang="es-ES" sz="1200" dirty="0">
              <a:latin typeface="Consolas" panose="020B0609020204030204" pitchFamily="49" charset="0"/>
            </a:endParaRPr>
          </a:p>
          <a:p>
            <a:r>
              <a:rPr lang="es-ES" sz="1200" dirty="0">
                <a:latin typeface="Consolas" panose="020B0609020204030204" pitchFamily="49" charset="0"/>
              </a:rPr>
              <a:t>Las dimensiones son los ejes de un espacio. Igual que un punto en un mapa necesita dos coordenadas, cada fragmento queda colocado como un punto en un espacio de 384 ejes, y su posición representa su significado: lo que significa parecido cae cerca. Buscar es medir distancias en ese espacio — y el umbral de 0,75 es una distancia.</a:t>
            </a:r>
          </a:p>
          <a:p>
            <a:r>
              <a:rPr lang="es-ES" sz="1200" dirty="0">
                <a:latin typeface="Consolas" panose="020B0609020204030204" pitchFamily="49" charset="0"/>
              </a:rPr>
              <a:t>384 es el equilibrio que eligieron para este modelo pequeño (los grandes suelen usar 768 o 1024). Viene con el modelo, y por eso la base vectorial declara </a:t>
            </a:r>
            <a:r>
              <a:rPr lang="es-ES" sz="1200" kern="1200" dirty="0" err="1">
                <a:solidFill>
                  <a:schemeClr val="tx1"/>
                </a:solidFill>
                <a:latin typeface="Consolas" panose="020B0609020204030204" pitchFamily="49" charset="0"/>
                <a:ea typeface="+mn-ea"/>
                <a:cs typeface="+mn-cs"/>
              </a:rPr>
              <a:t>dimension</a:t>
            </a:r>
            <a:r>
              <a:rPr lang="es-ES" sz="1200" kern="1200" dirty="0">
                <a:solidFill>
                  <a:schemeClr val="tx1"/>
                </a:solidFill>
                <a:latin typeface="Consolas" panose="020B0609020204030204" pitchFamily="49" charset="0"/>
                <a:ea typeface="+mn-ea"/>
                <a:cs typeface="+mn-cs"/>
              </a:rPr>
              <a:t>=384</a:t>
            </a:r>
            <a:endParaRPr lang="es-ES" sz="1200" dirty="0">
              <a:latin typeface="Consolas" panose="020B0609020204030204" pitchFamily="49" charset="0"/>
            </a:endParaRP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dirty="0"/>
              <a:t>Qué pasa cada vez que alguien pregunta. La pregunta se convierte en huella con el modelo de antes, y la base vectorial devuelve los cinco fragmentos con la huella más parecida — parecida en significado, no en palabras: «pedir hora» y «solicitar cita» se encuentran, aunque no compartan ni una palabra. Y aquí, el primer guardarraíl: si ni el mejor de los cinco se parece lo suficiente — ese es el umbral de 0,75: la distancia mide el parecido, cero sería idéntico, y si hasta el fragmento más cercano queda a más de 0,75 se considera que nada del corpus habla de eso — el modelo de lenguaje ni siquiera se invoca. La aplicación responde que no lo sabe. Coste cero y riesgo de invención cero, porque no hay generación. Si algo pasa el filtro, se monta un único mensaje para el modelo: siguiendo las reglas, con cinco fragmentos numerados y la pregunta. Las reglas son el segundo guardarraíl: prohibido usar conocimiento externo, prohibido inventar teléfonos, correos o cifras, obligatorio citar con el número del fragmento, y una frase para decir «no lo sé» si los fragmentos no responden de verdad. Este segundo guardarraíl es el que más trabaja — el umbral solo no basta. La respuesta llega con sus citas, y la interfaz enseña las fuentes con su enlace y el texto literal de cada fragmento en un desplegable. Y todo — pregunta, fragmentos, distancias, el mensaje completo, la respuesta, las fuentes, los parámetros, la hora — se escribe en una línea de un fichero de registro. Es trazabilidad. Para desarrollar en el plan de continuidad.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Las piezas, y el porqué de cada una en una frase. Python 3.12 con uv: instalación reproducible; cualquiera clona el repo y tiene el mismo entorno. </a:t>
            </a:r>
            <a:r>
              <a:rPr lang="es-ES" dirty="0" err="1"/>
              <a:t>sentence-transformers</a:t>
            </a:r>
            <a:r>
              <a:rPr lang="es-ES" dirty="0"/>
              <a:t> para las huellas, con un modelo pequeño y multilingüe que corre en CPU (Ollama). </a:t>
            </a:r>
            <a:r>
              <a:rPr lang="es-ES" dirty="0" err="1"/>
              <a:t>ChromaDB</a:t>
            </a:r>
            <a:r>
              <a:rPr lang="es-ES" dirty="0"/>
              <a:t> como base vectorial: persiste en un fichero, sin servidor, y por eso cabe versionada en el repositorio. Groq en producción, con el modelo gpt-oss-120b. Ollama en local como plan de independencia: el mismo código corre con un modelo en local, sin clave, sin cuota y sin internet. Cambiar de un modo a otro son tres variables de entorno. Streamlit para la interfaz: un script de Python se convierte en una página web con chat, historial y fuentes desplegables. Docker para empaquetar. </a:t>
            </a:r>
          </a:p>
          <a:p>
            <a:r>
              <a:rPr lang="es-ES" dirty="0"/>
              <a:t>Docker es una herramienta que mete la aplicación con todo lo que necesita en un paquete que corre igual en cualquier máquina; ese paquete guardado es la imagen. La nuestra lleva el modelo de huellas horneado dentro, para que el arranque no dependa de la red. </a:t>
            </a:r>
          </a:p>
          <a:p>
            <a:r>
              <a:rPr lang="es-ES" dirty="0"/>
              <a:t>GitHub para todo lo demás: </a:t>
            </a:r>
          </a:p>
          <a:p>
            <a:r>
              <a:rPr lang="es-ES" dirty="0"/>
              <a:t>una </a:t>
            </a:r>
            <a:r>
              <a:rPr lang="es-ES" dirty="0" err="1"/>
              <a:t>issue</a:t>
            </a:r>
            <a:r>
              <a:rPr lang="es-ES" dirty="0"/>
              <a:t> por tema (una </a:t>
            </a:r>
            <a:r>
              <a:rPr lang="es-ES" dirty="0" err="1"/>
              <a:t>issue</a:t>
            </a:r>
            <a:r>
              <a:rPr lang="es-ES" dirty="0"/>
              <a:t> es una tarea anotada, con su número), </a:t>
            </a:r>
          </a:p>
          <a:p>
            <a:r>
              <a:rPr lang="es-ES" dirty="0"/>
              <a:t>una rama por </a:t>
            </a:r>
            <a:r>
              <a:rPr lang="es-ES" dirty="0" err="1"/>
              <a:t>issue</a:t>
            </a:r>
            <a:r>
              <a:rPr lang="es-ES" dirty="0"/>
              <a:t> (una rama es una línea de trabajo paralela para cambiar cosas sin tocar la versión principal), </a:t>
            </a:r>
          </a:p>
          <a:p>
            <a:r>
              <a:rPr lang="es-ES" dirty="0"/>
              <a:t>un PR por rama (un </a:t>
            </a:r>
            <a:r>
              <a:rPr lang="es-ES" dirty="0" err="1"/>
              <a:t>pull</a:t>
            </a:r>
            <a:r>
              <a:rPr lang="es-ES" dirty="0"/>
              <a:t> </a:t>
            </a:r>
            <a:r>
              <a:rPr lang="es-ES" dirty="0" err="1"/>
              <a:t>request</a:t>
            </a:r>
            <a:r>
              <a:rPr lang="es-ES" dirty="0"/>
              <a:t> es la propuesta de incorporar esos cambios, con su revisión) </a:t>
            </a:r>
          </a:p>
          <a:p>
            <a:r>
              <a:rPr lang="es-ES" dirty="0"/>
              <a:t>y un tablero público (</a:t>
            </a:r>
            <a:r>
              <a:rPr lang="es-ES" dirty="0" err="1"/>
              <a:t>kanban</a:t>
            </a:r>
            <a:r>
              <a:rPr lang="es-ES" dirty="0"/>
              <a:t>). </a:t>
            </a:r>
          </a:p>
          <a:p>
            <a:r>
              <a:rPr lang="es-ES" dirty="0"/>
              <a:t>Aún no hay </a:t>
            </a:r>
            <a:r>
              <a:rPr lang="es-ES" dirty="0" err="1"/>
              <a:t>framework</a:t>
            </a:r>
            <a:r>
              <a:rPr lang="es-ES" dirty="0"/>
              <a:t> de orquestación tipo </a:t>
            </a:r>
            <a:r>
              <a:rPr lang="es-ES" dirty="0" err="1"/>
              <a:t>LangChain</a:t>
            </a:r>
            <a:r>
              <a:rPr lang="es-ES" dirty="0"/>
              <a:t> (un </a:t>
            </a:r>
            <a:r>
              <a:rPr lang="es-ES" dirty="0" err="1"/>
              <a:t>framework</a:t>
            </a:r>
            <a:r>
              <a:rPr lang="es-ES" dirty="0"/>
              <a:t> es un armazón de código ajeno que te organiza la aplicación).</a:t>
            </a:r>
          </a:p>
          <a:p>
            <a:r>
              <a:rPr lang="es-ES" dirty="0"/>
              <a:t>Cuatro módulos pequeños que se ejecutan y se prueban por separado eran más fáciles de entender, de depurar y de explicar.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¿Y cómo sé que esto funciona? Con una batería de veinte preguntas, y ninguna al azar: diez son las del briefing, cuatro son la misma pregunta dicha de otra forma, tres están deliberadamente fuera del corpus (su acierto es no contestar que se sabe), dos apuntan a una debilidad que ya conocía, y una está en inglés. </a:t>
            </a:r>
          </a:p>
          <a:p>
            <a:r>
              <a:rPr lang="es-ES" dirty="0"/>
              <a:t>A mitad de proyecto, tuve constancia de que el proveedor retiraba el modelo con el que estaba construido todo, con fecha: el 16 de agosto de 2026. Esa migración forzosa la convertí en experimento: la batería entera sobre tres modelos, verificando antes que los tres recibían exactamente los mismos fragmentos, byte a byte. Así, lo único que cambia es el modelo. </a:t>
            </a:r>
          </a:p>
          <a:p>
            <a:r>
              <a:rPr lang="es-ES" dirty="0"/>
              <a:t>Resultado: 17, 18, 19 (significan respuestas plenamente correctas sobre las veinte preguntas): correctas en contenido, en fuentes y en comportamiento, subiendo de tamaño de modelo. Y el grande, además de acertar más, tarda menos. Cero alucinaciones en las sesenta generaciones, y los seis casos en los que no había que contestar, se reconoce. </a:t>
            </a:r>
          </a:p>
          <a:p>
            <a:r>
              <a:rPr lang="es-ES" dirty="0"/>
              <a:t>Dos hallazgos. </a:t>
            </a:r>
          </a:p>
          <a:p>
            <a:r>
              <a:rPr lang="es-ES" dirty="0"/>
              <a:t>Uno: una pregunta sobre medicación (que no está en el corpus) dio distancia 0,35, más cerca que muchas preguntas legítimas, porque AMAFE habla de salud mental y el parecido es real. Conclusión medida: no existe umbral que separe lo cercano-pero-fuera-de-tema; el guardarraíl que decide es el del prompt. </a:t>
            </a:r>
          </a:p>
          <a:p>
            <a:r>
              <a:rPr lang="es-ES" dirty="0"/>
              <a:t>Dos: el único fallo que cometen los tres modelos por igual es una paráfrasis (una paráfrasis es la misma pregunta dicha con otras palabras) que la búsqueda no encuentra. Un modelo mejor no arregla un fragmento que no llegó: si el texto correcto no está delante, no hay material con el que redactar; y las reglas le obligan a decirlo, en lugar de rellenar con su conocimiento general. Por eso, cuando pasa, el sistema calla en vez de inventar: falla por el lado seguro.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Tres aprendizajes. </a:t>
            </a:r>
          </a:p>
          <a:p>
            <a:r>
              <a:rPr lang="es-ES" dirty="0"/>
              <a:t>Primero: dos mejoras que parecían obvias</a:t>
            </a:r>
          </a:p>
          <a:p>
            <a:r>
              <a:rPr lang="es-ES" dirty="0"/>
              <a:t>añadir el título al texto vectorizado, y ampliar la ventana de lectura de 128 a 256 empeoraron el sistema al medirlas. </a:t>
            </a:r>
          </a:p>
          <a:p>
            <a:r>
              <a:rPr lang="es-ES" dirty="0"/>
              <a:t>La medición no adorna las decisiones: las contradice. </a:t>
            </a:r>
          </a:p>
          <a:p>
            <a:r>
              <a:rPr lang="es-ES" dirty="0"/>
              <a:t>Segundo: la cifra de la diapositiva cuatro. El 85 por ciento de los fragmentos no cabe entero en la ventana de lectura del modelo de huellas. Es la limitación dominante de la recuperación, explica el único fallo que ningún modelo arregló, y marca el camino de mejora: fragmentos más cortos primero, ventana más grande después. Tercero: tiempo que se fue en las costuras: un comentario en un fichero de configuración que Python entiende y Docker no; una plataforma que inspecciona toda la historia del repositorio buscando binarios; un tablero que nació privado sin que nadie lo eligiera. </a:t>
            </a:r>
          </a:p>
          <a:p>
            <a:r>
              <a:rPr lang="es-ES" dirty="0"/>
              <a:t>Generé 185 páginas de informe de evaluación para cotejar a mano cada fragmento con cada respuesta, y ese cotejo se quedó a medias. El tiempo mandó.</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El plan está ordenado por coste, no por ambición. Lo primero es lo más barato, y aquí vuelve la trazabilidad: como cada consulta guardó la pregunta, los fragmentos, el mensaje completo y la respuesta, las sesenta generaciones de la evaluación son exactamente la entrada que necesita una herramienta de evaluación automática como RAGAS. </a:t>
            </a:r>
          </a:p>
          <a:p>
            <a:r>
              <a:rPr lang="es-ES" dirty="0"/>
              <a:t>Se puede calcular hacia atrás, con dos barridos de configuración que faltan — tamaño de fragmento y número de vecinos — tampoco necesitan ni una llamada al modelo. </a:t>
            </a:r>
          </a:p>
          <a:p>
            <a:r>
              <a:rPr lang="es-ES" dirty="0"/>
              <a:t>Segundo, la memoria conversacional: que se pueda preguntar «¿y cuánto cuesta eso?». La técnica, reescribir la pregunta con el contexto) es además la misma que ataca el fallo de las paráfrasis. Después, mejorar la búsqueda con reordenación y fragmentos más cortos; la fase dos del corpus, con los </a:t>
            </a:r>
            <a:r>
              <a:rPr lang="es-ES" dirty="0" err="1"/>
              <a:t>PDFs</a:t>
            </a:r>
            <a:r>
              <a:rPr lang="es-ES" dirty="0"/>
              <a:t> institucionales y el OCR de los escaneados, que resuelve de raíz la debilidad de auditorías; </a:t>
            </a:r>
          </a:p>
          <a:p>
            <a:r>
              <a:rPr lang="es-ES" dirty="0"/>
              <a:t>Mantenimiento: reforzar dos reglas del prompt ya medidas, normalizar los caracteres exóticos que emiten los modelos, y vigilar deprecaciones. Si AMAFE quiere el asistente, se le cede, con su dominio propio. Es un ofrecimiento.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Capturas, que son de las dos aplicaciones en producción. Aquí, la respuesta con sus fuentes y el fragmento desplegado. Aquí, la pregunta del Museo del Prado con su «no hay información suficiente»: el sistema callando cuando toca. Y aquí los dos despliegues, el de Streamlit Cloud y el de Hugging Face con Docker. Los números ya los habéis visto: tres modelos con la misma búsqueda, diecisiete, dieciocho y diecinueve sobre veinte, cero alucinaciones en sesenta generaciones. La demo apoya la presentación.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 dirty="0"/>
              <a:t>Vamos a verlo en vivo. Cuatro preguntas. </a:t>
            </a:r>
          </a:p>
          <a:p>
            <a:r>
              <a:rPr lang="es-ES" sz="1200" b="1" noProof="0" dirty="0">
                <a:solidFill>
                  <a:srgbClr val="1A2A33"/>
                </a:solidFill>
                <a:latin typeface="Consolas" pitchFamily="34" charset="0"/>
                <a:ea typeface="Consolas" pitchFamily="34" charset="-122"/>
                <a:cs typeface="Consolas" pitchFamily="34" charset="-120"/>
              </a:rPr>
              <a:t>¿Qué es el Espacio Joven?</a:t>
            </a:r>
            <a:endParaRPr lang="es-ES" dirty="0"/>
          </a:p>
          <a:p>
            <a:r>
              <a:rPr lang="es-ES" dirty="0"/>
              <a:t>La primera es el camino feliz: fijaos en que la respuesta va separada de las fuentes, y en que cada fuente trae su enlace y el fragmento literal que se usó, desplegable.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srgbClr val="1A2A33"/>
                </a:solidFill>
                <a:effectLst/>
                <a:uLnTx/>
                <a:uFillTx/>
                <a:latin typeface="Consolas" pitchFamily="34" charset="0"/>
                <a:ea typeface="Consolas" pitchFamily="34" charset="-122"/>
                <a:cs typeface="Consolas" pitchFamily="34" charset="-120"/>
              </a:rPr>
              <a:t>¿Cómo puedo pedir cita?</a:t>
            </a:r>
            <a:endParaRPr kumimoji="0" lang="es-ES" sz="20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lang="es-ES" dirty="0"/>
              <a:t>La segunda es la más útil para una persona real: pedir cita. Los teléfonos y horarios que salen no los escribe el modelo de memoria: están en el fragmento que tenéis debajo, con su cita numerada. </a:t>
            </a:r>
          </a:p>
          <a:p>
            <a:r>
              <a:rPr kumimoji="0" lang="es-ES" sz="2000" b="1" i="0" u="none" strike="noStrike" kern="1200" cap="none" spc="0" normalizeH="0" baseline="0" noProof="0" dirty="0">
                <a:ln>
                  <a:noFill/>
                </a:ln>
                <a:solidFill>
                  <a:srgbClr val="1A2A33"/>
                </a:solidFill>
                <a:effectLst/>
                <a:uLnTx/>
                <a:uFillTx/>
                <a:latin typeface="Consolas" pitchFamily="34" charset="0"/>
                <a:ea typeface="Consolas" pitchFamily="34" charset="-122"/>
                <a:cs typeface="Consolas" pitchFamily="34" charset="-120"/>
              </a:rPr>
              <a:t>¿Qué información hay sobre auditorías?</a:t>
            </a:r>
            <a:endParaRPr lang="es-ES" dirty="0"/>
          </a:p>
          <a:p>
            <a:r>
              <a:rPr lang="es-ES" dirty="0"/>
              <a:t>La tercera la traigo a propósito porque sale floja, y prefiero enseñarla yo: las auditorías son </a:t>
            </a:r>
            <a:r>
              <a:rPr lang="es-ES" dirty="0" err="1"/>
              <a:t>PDFs</a:t>
            </a:r>
            <a:r>
              <a:rPr lang="es-ES" dirty="0"/>
              <a:t> escaneados que están fuera del corpus web, y el vocabulario de «financiación» se parece al de la política de privacidad, que sí está dentro. La búsqueda trae lo parecido, lo correcto es reconocer que no se sabe. Está medido y es la fase dos. </a:t>
            </a:r>
          </a:p>
          <a:p>
            <a:r>
              <a:rPr lang="es-ES" sz="1200" b="1" noProof="0" dirty="0">
                <a:solidFill>
                  <a:srgbClr val="1A2A33"/>
                </a:solidFill>
                <a:latin typeface="Consolas" pitchFamily="34" charset="0"/>
                <a:ea typeface="Consolas" pitchFamily="34" charset="-122"/>
                <a:cs typeface="Consolas" pitchFamily="34" charset="-120"/>
              </a:rPr>
              <a:t>¿Qué se expone en el Museo del Prado?</a:t>
            </a:r>
            <a:endParaRPr lang="es-ES" dirty="0"/>
          </a:p>
          <a:p>
            <a:r>
              <a:rPr lang="es-ES" dirty="0"/>
              <a:t>La cuarta tiene que fallar bien: el Museo del Prado no está en la documentación de AMAFE. El modelo sabe perfectamente qué hay en el Prado, y quiere contarlo. Veréis que no lo hace.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Marcador de notas 2"/>
          <p:cNvSpPr>
            <a:spLocks noGrp="1"/>
          </p:cNvSpPr>
          <p:nvPr>
            <p:ph type="body" idx="1"/>
          </p:nvPr>
        </p:nvSpPr>
        <p:spPr>
          <a:xfrm>
            <a:off x="685800" y="5867400"/>
            <a:ext cx="5486400" cy="4800600"/>
          </a:xfrm>
          <a:prstGeom prst="rect">
            <a:avLst/>
          </a:prstGeom>
        </p:spPr>
        <p:txBody>
          <a:bodyPr/>
          <a:lstStyle/>
          <a:p>
            <a:r>
              <a:rPr lang="es-ES" dirty="0"/>
              <a:t>Quiero hablar con alguien de la asociación, ¿cómo concierto una primera atención?</a:t>
            </a:r>
          </a:p>
          <a:p>
            <a:r>
              <a:rPr lang="es-ES" dirty="0"/>
              <a:t>Un familiar ha tenido un brote psicótico, ¿qué apoyo puede darnos AMAFE?</a:t>
            </a:r>
          </a:p>
          <a:p>
            <a:r>
              <a:rPr lang="es-ES" dirty="0" err="1"/>
              <a:t>What</a:t>
            </a:r>
            <a:r>
              <a:rPr lang="es-ES" dirty="0"/>
              <a:t> </a:t>
            </a:r>
            <a:r>
              <a:rPr lang="es-ES" dirty="0" err="1"/>
              <a:t>services</a:t>
            </a:r>
            <a:r>
              <a:rPr lang="es-ES" dirty="0"/>
              <a:t> </a:t>
            </a:r>
            <a:r>
              <a:rPr lang="es-ES" dirty="0" err="1"/>
              <a:t>does</a:t>
            </a:r>
            <a:r>
              <a:rPr lang="es-ES" dirty="0"/>
              <a:t> AMAFE </a:t>
            </a:r>
            <a:r>
              <a:rPr lang="es-ES" dirty="0" err="1"/>
              <a:t>offer</a:t>
            </a:r>
            <a:r>
              <a:rPr lang="es-ES" dirty="0"/>
              <a:t> </a:t>
            </a:r>
            <a:r>
              <a:rPr lang="es-ES" dirty="0" err="1"/>
              <a:t>to</a:t>
            </a:r>
            <a:r>
              <a:rPr lang="es-ES" dirty="0"/>
              <a:t> </a:t>
            </a:r>
            <a:r>
              <a:rPr lang="es-ES" dirty="0" err="1"/>
              <a:t>families</a:t>
            </a:r>
            <a:r>
              <a:rPr lang="es-ES" dirty="0"/>
              <a:t>?</a:t>
            </a:r>
          </a:p>
          <a:p>
            <a:r>
              <a:rPr lang="es-ES" dirty="0"/>
              <a:t>¿Cuánto cuesta la entrada al Museo del Prado?</a:t>
            </a:r>
          </a:p>
          <a:p>
            <a:r>
              <a:rPr lang="es-ES" dirty="0"/>
              <a:t>¿Cómo puedo asociarme?</a:t>
            </a:r>
          </a:p>
          <a:p>
            <a:r>
              <a:rPr lang="es-ES" dirty="0"/>
              <a:t>¿Cómo puedo colaborar con AMAFE?</a:t>
            </a:r>
          </a:p>
          <a:p>
            <a:r>
              <a:rPr lang="es-ES" dirty="0"/>
              <a:t>¿Cómo puedo pedir cita?</a:t>
            </a:r>
          </a:p>
          <a:p>
            <a:r>
              <a:rPr lang="es-ES" dirty="0"/>
              <a:t>¿Cómo se financia AMAFE?</a:t>
            </a:r>
          </a:p>
          <a:p>
            <a:r>
              <a:rPr lang="es-ES" dirty="0"/>
              <a:t>¿Dónde aparecen las memorias anuales?</a:t>
            </a:r>
          </a:p>
          <a:p>
            <a:r>
              <a:rPr lang="es-ES" dirty="0"/>
              <a:t>¿Dónde puedo consultar las cuentas auditadas de AMAFE?</a:t>
            </a:r>
          </a:p>
          <a:p>
            <a:r>
              <a:rPr lang="es-ES" dirty="0"/>
              <a:t>¿Dónde puedo encontrar las memorias anuales?</a:t>
            </a:r>
          </a:p>
          <a:p>
            <a:r>
              <a:rPr lang="es-ES" dirty="0"/>
              <a:t>¿Quién ganó la Liga de fútbol en 2024?</a:t>
            </a:r>
          </a:p>
          <a:p>
            <a:r>
              <a:rPr lang="es-ES" dirty="0"/>
              <a:t>¿Qué actividades realiza AMAFE para jóvenes?</a:t>
            </a:r>
          </a:p>
          <a:p>
            <a:r>
              <a:rPr lang="es-ES" dirty="0"/>
              <a:t>¿Qué actividades se realizaron en 2024?</a:t>
            </a:r>
          </a:p>
          <a:p>
            <a:r>
              <a:rPr lang="es-ES" dirty="0"/>
              <a:t>¿Qué boletines están disponibles?</a:t>
            </a:r>
          </a:p>
          <a:p>
            <a:r>
              <a:rPr lang="es-ES" dirty="0"/>
              <a:t>¿Qué es AMAFE?</a:t>
            </a:r>
          </a:p>
          <a:p>
            <a:r>
              <a:rPr lang="es-ES" dirty="0"/>
              <a:t>¿Qué es el Espacio Joven y a quién va dirigido?</a:t>
            </a:r>
          </a:p>
          <a:p>
            <a:r>
              <a:rPr lang="es-ES" dirty="0"/>
              <a:t>¿Qué es el Espacio Joven?</a:t>
            </a:r>
          </a:p>
          <a:p>
            <a:r>
              <a:rPr lang="es-ES" dirty="0"/>
              <a:t>¿Qué información hay sobre empleo, formación o apoyo a familias?</a:t>
            </a:r>
          </a:p>
          <a:p>
            <a:r>
              <a:rPr lang="es-ES" dirty="0"/>
              <a:t>¿Qué información pública existe sobre auditorías?</a:t>
            </a:r>
          </a:p>
          <a:p>
            <a:r>
              <a:rPr lang="es-ES" dirty="0"/>
              <a:t>¿Qué información pública existe sobre financiación o auditorías?</a:t>
            </a:r>
          </a:p>
          <a:p>
            <a:r>
              <a:rPr lang="es-ES" dirty="0"/>
              <a:t>¿Qué medicación se recomienda para la esquizofrenia?</a:t>
            </a:r>
          </a:p>
          <a:p>
            <a:r>
              <a:rPr lang="es-ES" dirty="0"/>
              <a:t>¿Qué pasos debo seguir para hacerme socio?</a:t>
            </a:r>
          </a:p>
          <a:p>
            <a:r>
              <a:rPr lang="es-ES" dirty="0"/>
              <a:t>¿Qué proyectos europeos aparecen en la documentación?</a:t>
            </a:r>
          </a:p>
          <a:p>
            <a:r>
              <a:rPr lang="es-ES" dirty="0"/>
              <a:t>¿Qué servicios ofrece AMAFE?</a:t>
            </a:r>
          </a:p>
        </p:txBody>
      </p:sp>
    </p:spTree>
    <p:extLst>
      <p:ext uri="{BB962C8B-B14F-4D97-AF65-F5344CB8AC3E}">
        <p14:creationId xmlns:p14="http://schemas.microsoft.com/office/powerpoint/2010/main" val="10735217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Bootcamp-IA-P6/amafe-responde"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www.amafe.org/"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hyperlink" Target="HuggingFace.despliegue.20260728002910M.png" TargetMode="External"/><Relationship Id="rId3" Type="http://schemas.openxmlformats.org/officeDocument/2006/relationships/hyperlink" Target="1-StreamlitCloud.na.20260728001540M.mp4" TargetMode="External"/><Relationship Id="rId7" Type="http://schemas.openxmlformats.org/officeDocument/2006/relationships/hyperlink" Target="StreamlitCloud.despliegue.20260728002849M.png"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hyperlink" Target="2-HuggingFace.na.20260728001544M.mp4" TargetMode="External"/><Relationship Id="rId5" Type="http://schemas.openxmlformats.org/officeDocument/2006/relationships/hyperlink" Target="2-StreamlitCloud.na.20260728001542M.mp4" TargetMode="External"/><Relationship Id="rId4" Type="http://schemas.openxmlformats.org/officeDocument/2006/relationships/hyperlink" Target="1-HuggingFace.na.20260728001541M.mp4"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ootcamp-IA-P6/amafe-responde"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huggingface.co/spaces/JJRSE/amafe-responde" TargetMode="External"/><Relationship Id="rId5" Type="http://schemas.openxmlformats.org/officeDocument/2006/relationships/hyperlink" Target="https://amafe-responde.streamlit.app/" TargetMode="External"/><Relationship Id="rId4" Type="http://schemas.openxmlformats.org/officeDocument/2006/relationships/hyperlink" Target="https://github.com/orgs/Bootcamp-IA-P6/projects/77"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Bater&#237;aPreguntas.txt" TargetMode="External"/><Relationship Id="rId7" Type="http://schemas.openxmlformats.org/officeDocument/2006/relationships/hyperlink" Target="https://amafe-responde.streamlit.app/"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hyperlink" Target="https://github.com/orgs/Bootcamp-IA-P6/projects/77" TargetMode="External"/><Relationship Id="rId5" Type="http://schemas.openxmlformats.org/officeDocument/2006/relationships/hyperlink" Target="https://github.com/Bootcamp-IA-P6/amafe-responde" TargetMode="External"/><Relationship Id="rId10" Type="http://schemas.openxmlformats.org/officeDocument/2006/relationships/image" Target="../media/image6.png"/><Relationship Id="rId4" Type="http://schemas.openxmlformats.org/officeDocument/2006/relationships/image" Target="../media/image3.png"/><Relationship Id="rId9" Type="http://schemas.openxmlformats.org/officeDocument/2006/relationships/hyperlink" Target="https://huggingface.co/spaces/JJRSE/amafe-respond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531E"/>
        </a:solidFill>
        <a:effectLst/>
      </p:bgPr>
    </p:bg>
    <p:spTree>
      <p:nvGrpSpPr>
        <p:cNvPr id="1" name=""/>
        <p:cNvGrpSpPr/>
        <p:nvPr/>
      </p:nvGrpSpPr>
      <p:grpSpPr>
        <a:xfrm>
          <a:off x="0" y="0"/>
          <a:ext cx="0" cy="0"/>
          <a:chOff x="0" y="0"/>
          <a:chExt cx="0" cy="0"/>
        </a:xfrm>
      </p:grpSpPr>
      <p:sp>
        <p:nvSpPr>
          <p:cNvPr id="20" name="Watermark"/>
          <p:cNvSpPr/>
          <p:nvPr/>
        </p:nvSpPr>
        <p:spPr>
          <a:xfrm>
            <a:off x="596000" y="3920000"/>
            <a:ext cx="11000000" cy="600000"/>
          </a:xfrm>
          <a:prstGeom prst="rect">
            <a:avLst/>
          </a:prstGeom>
          <a:noFill/>
        </p:spPr>
        <p:txBody>
          <a:bodyPr wrap="square" lIns="0" tIns="0" rIns="0" bIns="0" rtlCol="0" anchor="ctr"/>
          <a:lstStyle/>
          <a:p>
            <a:pPr marL="0" indent="0" algn="ctr">
              <a:buNone/>
            </a:pPr>
            <a:r>
              <a:rPr lang="es-ES" sz="3600" b="1" noProof="1">
                <a:solidFill>
                  <a:srgbClr val="FFFFFF">
                    <a:alpha val="50000"/>
                  </a:srgbClr>
                </a:solidFill>
                <a:latin typeface="Consolas" pitchFamily="34" charset="0"/>
                <a:cs typeface="Consolas" pitchFamily="34" charset="0"/>
              </a:rPr>
              <a:t>P6 BootCamp IA 1250h Factoría F5 Madrid</a:t>
            </a:r>
            <a:endParaRPr lang="es-ES" sz="3600" b="1" noProof="1"/>
          </a:p>
        </p:txBody>
      </p:sp>
      <p:sp>
        <p:nvSpPr>
          <p:cNvPr id="9" name="Greeting"/>
          <p:cNvSpPr/>
          <p:nvPr/>
        </p:nvSpPr>
        <p:spPr>
          <a:xfrm>
            <a:off x="731520" y="200000"/>
            <a:ext cx="10728960" cy="430000"/>
          </a:xfrm>
          <a:prstGeom prst="rect">
            <a:avLst/>
          </a:prstGeom>
          <a:noFill/>
          <a:ln/>
        </p:spPr>
        <p:txBody>
          <a:bodyPr wrap="square" lIns="0" tIns="0" rIns="0" bIns="0" rtlCol="0" anchor="ctr"/>
          <a:lstStyle/>
          <a:p>
            <a:pPr marL="0" indent="0" algn="ctr">
              <a:buNone/>
            </a:pPr>
            <a:r>
              <a:rPr lang="es-ES" sz="2200" b="1" noProof="1">
                <a:solidFill>
                  <a:srgbClr val="FFFFFF"/>
                </a:solidFill>
                <a:latin typeface="Consolas" pitchFamily="34" charset="0"/>
                <a:cs typeface="Consolas" pitchFamily="34" charset="0"/>
              </a:rPr>
              <a:t>Buenos Días (☀️).</a:t>
            </a:r>
            <a:endParaRPr lang="es-ES" sz="2200" b="1" noProof="1"/>
          </a:p>
        </p:txBody>
      </p:sp>
      <p:sp>
        <p:nvSpPr>
          <p:cNvPr id="10" name="Title"/>
          <p:cNvSpPr/>
          <p:nvPr/>
        </p:nvSpPr>
        <p:spPr>
          <a:xfrm>
            <a:off x="731520" y="640000"/>
            <a:ext cx="10728960" cy="720000"/>
          </a:xfrm>
          <a:prstGeom prst="rect">
            <a:avLst/>
          </a:prstGeom>
          <a:noFill/>
          <a:ln/>
        </p:spPr>
        <p:txBody>
          <a:bodyPr wrap="square" lIns="0" tIns="0" rIns="0" bIns="0" rtlCol="0" anchor="ctr"/>
          <a:lstStyle/>
          <a:p>
            <a:pPr marL="0" indent="0" algn="ctr">
              <a:buNone/>
            </a:pPr>
            <a:r>
              <a:rPr lang="es-ES" sz="3600" b="1" noProof="1">
                <a:solidFill>
                  <a:srgbClr val="FFFFFF"/>
                </a:solidFill>
                <a:latin typeface="Consolas" pitchFamily="34" charset="0"/>
                <a:cs typeface="Consolas" pitchFamily="34" charset="0"/>
              </a:rPr>
              <a:t>Agradecimientos</a:t>
            </a:r>
            <a:endParaRPr lang="es-ES" sz="3600" b="1" noProof="1"/>
          </a:p>
        </p:txBody>
      </p:sp>
      <p:sp>
        <p:nvSpPr>
          <p:cNvPr id="11" name="ColLeft"/>
          <p:cNvSpPr/>
          <p:nvPr/>
        </p:nvSpPr>
        <p:spPr>
          <a:xfrm>
            <a:off x="900000" y="1420000"/>
            <a:ext cx="4900000" cy="2520000"/>
          </a:xfrm>
          <a:prstGeom prst="rect">
            <a:avLst/>
          </a:prstGeom>
          <a:noFill/>
          <a:ln/>
        </p:spPr>
        <p:txBody>
          <a:bodyPr wrap="square" lIns="0" tIns="0" rIns="0" bIns="0" rtlCol="0" anchor="t"/>
          <a:lstStyle/>
          <a:p>
            <a:pPr marL="285750" indent="-285750" algn="ctr">
              <a:buFont typeface="Arial" pitchFamily="34" charset="0"/>
              <a:buChar char="•"/>
            </a:pPr>
            <a:r>
              <a:rPr lang="es-ES" sz="1800" noProof="1">
                <a:solidFill>
                  <a:srgbClr val="FFFFFF"/>
                </a:solidFill>
                <a:latin typeface="Consolas" pitchFamily="34" charset="0"/>
                <a:cs typeface="Consolas" pitchFamily="34" charset="0"/>
              </a:rPr>
              <a:t>Factoría F5</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Compañeros de P6</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Compañeros de P5 y P7</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Compañeros</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Equipo Formativo</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Coordinación</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Organización</a:t>
            </a:r>
          </a:p>
        </p:txBody>
      </p:sp>
      <p:sp>
        <p:nvSpPr>
          <p:cNvPr id="12" name="ColRight"/>
          <p:cNvSpPr/>
          <p:nvPr/>
        </p:nvSpPr>
        <p:spPr>
          <a:xfrm>
            <a:off x="6392000" y="1420000"/>
            <a:ext cx="4900000" cy="2520000"/>
          </a:xfrm>
          <a:prstGeom prst="rect">
            <a:avLst/>
          </a:prstGeom>
          <a:noFill/>
          <a:ln/>
        </p:spPr>
        <p:txBody>
          <a:bodyPr wrap="square" lIns="0" tIns="0" rIns="0" bIns="0" rtlCol="0" anchor="t"/>
          <a:lstStyle/>
          <a:p>
            <a:pPr marL="285750" indent="-285750" algn="ctr">
              <a:buFont typeface="Arial" pitchFamily="34" charset="0"/>
              <a:buChar char="•"/>
            </a:pPr>
            <a:r>
              <a:rPr lang="es-ES" sz="1800" noProof="1">
                <a:solidFill>
                  <a:srgbClr val="FFFFFF"/>
                </a:solidFill>
                <a:latin typeface="Consolas" pitchFamily="34" charset="0"/>
                <a:cs typeface="Consolas" pitchFamily="34" charset="0"/>
              </a:rPr>
              <a:t>Financiadores</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Colaboradores</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Apoyo técnico y MISOCO</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SkateHolders y AMAFE</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ISCIII y Comunidad de Madrid</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Microsoft</a:t>
            </a:r>
          </a:p>
          <a:p>
            <a:pPr marL="285750" indent="-285750" algn="ctr">
              <a:spcBef>
                <a:spcPts val="600"/>
              </a:spcBef>
              <a:buFont typeface="Arial" pitchFamily="34" charset="0"/>
              <a:buChar char="•"/>
            </a:pPr>
            <a:r>
              <a:rPr lang="es-ES" sz="1800" noProof="1">
                <a:solidFill>
                  <a:srgbClr val="FFFFFF"/>
                </a:solidFill>
                <a:latin typeface="Consolas" pitchFamily="34" charset="0"/>
                <a:cs typeface="Consolas" pitchFamily="34" charset="0"/>
              </a:rPr>
              <a:t>Sage y Fundación Sage</a:t>
            </a:r>
          </a:p>
        </p:txBody>
      </p:sp>
      <p:sp>
        <p:nvSpPr>
          <p:cNvPr id="15" name="Closing"/>
          <p:cNvSpPr/>
          <p:nvPr/>
        </p:nvSpPr>
        <p:spPr>
          <a:xfrm>
            <a:off x="1200000" y="4560000"/>
            <a:ext cx="9792000" cy="560000"/>
          </a:xfrm>
          <a:prstGeom prst="rect">
            <a:avLst/>
          </a:prstGeom>
          <a:noFill/>
          <a:ln/>
        </p:spPr>
        <p:txBody>
          <a:bodyPr wrap="square" lIns="0" tIns="0" rIns="0" bIns="0" rtlCol="0" anchor="ctr"/>
          <a:lstStyle/>
          <a:p>
            <a:pPr marL="0" indent="0" algn="ctr">
              <a:buNone/>
            </a:pPr>
            <a:r>
              <a:rPr lang="es-ES" sz="1600" i="1" noProof="1">
                <a:solidFill>
                  <a:srgbClr val="FFFFFF"/>
                </a:solidFill>
                <a:latin typeface="Consolas" pitchFamily="34" charset="0"/>
                <a:cs typeface="Consolas" pitchFamily="34" charset="0"/>
              </a:rPr>
              <a:t>Agradecer a todos la paciencia mostrada y pedir disculpas por los padecimientos sufridos. </a:t>
            </a:r>
            <a:r>
              <a:rPr lang="es-ES" sz="1600" noProof="1">
                <a:solidFill>
                  <a:srgbClr val="FFFFFF"/>
                </a:solidFill>
                <a:latin typeface="Consolas" pitchFamily="34" charset="0"/>
                <a:cs typeface="Consolas" pitchFamily="34" charset="0"/>
              </a:rPr>
              <a:t>😊</a:t>
            </a:r>
            <a:endParaRPr lang="es-ES" sz="1600" noProof="1"/>
          </a:p>
        </p:txBody>
      </p:sp>
      <p:pic>
        <p:nvPicPr>
          <p:cNvPr id="3" name="Imagen 2"/>
          <p:cNvPicPr>
            <a:picLocks noChangeAspect="1"/>
          </p:cNvPicPr>
          <p:nvPr/>
        </p:nvPicPr>
        <p:blipFill>
          <a:blip r:embed="rId3"/>
          <a:stretch>
            <a:fillRect/>
          </a:stretch>
        </p:blipFill>
        <p:spPr>
          <a:xfrm>
            <a:off x="2872720" y="5160000"/>
            <a:ext cx="1235040" cy="620000"/>
          </a:xfrm>
          <a:prstGeom prst="roundRect">
            <a:avLst>
              <a:gd name="adj" fmla="val 10000"/>
            </a:avLst>
          </a:prstGeom>
          <a:solidFill>
            <a:srgbClr val="FFFFFF">
              <a:shade val="85000"/>
            </a:srgbClr>
          </a:solidFill>
          <a:ln>
            <a:solidFill>
              <a:srgbClr val="000000"/>
            </a:solidFill>
          </a:ln>
          <a:effectLst>
            <a:reflection blurRad="12700" stA="38000" endPos="28000" dist="5000" dir="5400000" sy="-100000" algn="bl" rotWithShape="0"/>
          </a:effectLst>
        </p:spPr>
      </p:pic>
      <p:sp>
        <p:nvSpPr>
          <p:cNvPr id="14" name="Funding"/>
          <p:cNvSpPr/>
          <p:nvPr/>
        </p:nvSpPr>
        <p:spPr>
          <a:xfrm>
            <a:off x="731520" y="5860000"/>
            <a:ext cx="10728960" cy="520000"/>
          </a:xfrm>
          <a:prstGeom prst="rect">
            <a:avLst/>
          </a:prstGeom>
          <a:noFill/>
          <a:ln/>
        </p:spPr>
        <p:txBody>
          <a:bodyPr wrap="square" lIns="0" tIns="0" rIns="0" bIns="0" rtlCol="0" anchor="ctr"/>
          <a:lstStyle/>
          <a:p>
            <a:pPr marL="0" indent="0" algn="ctr">
              <a:buNone/>
            </a:pPr>
            <a:r>
              <a:rPr lang="es-ES" sz="1300" i="1" noProof="1">
                <a:solidFill>
                  <a:srgbClr val="FFFFFF"/>
                </a:solidFill>
                <a:latin typeface="Consolas" pitchFamily="34" charset="0"/>
                <a:cs typeface="Consolas" pitchFamily="34" charset="0"/>
              </a:rPr>
              <a:t>Mi participación ha sido posible gracias a la financiación ofrecida por la Fundación Grupo Sifu.</a:t>
            </a:r>
            <a:endParaRPr lang="es-ES" sz="1300" i="1" noProof="1"/>
          </a:p>
        </p:txBody>
      </p:sp>
      <p:pic>
        <p:nvPicPr>
          <p:cNvPr id="5" name="Imagen 4">
            <a:extLst>
              <a:ext uri="{FF2B5EF4-FFF2-40B4-BE49-F238E27FC236}">
                <a16:creationId xmlns:a16="http://schemas.microsoft.com/office/drawing/2014/main" id="{3124BD5B-211C-253D-2E28-9D00C025327C}"/>
              </a:ext>
            </a:extLst>
          </p:cNvPr>
          <p:cNvPicPr>
            <a:picLocks noChangeAspect="1"/>
          </p:cNvPicPr>
          <p:nvPr/>
        </p:nvPicPr>
        <p:blipFill>
          <a:blip r:embed="rId4"/>
          <a:stretch>
            <a:fillRect/>
          </a:stretch>
        </p:blipFill>
        <p:spPr>
          <a:xfrm>
            <a:off x="7878020" y="5160000"/>
            <a:ext cx="1393140" cy="620000"/>
          </a:xfrm>
          <a:prstGeom prst="roundRect">
            <a:avLst>
              <a:gd name="adj" fmla="val 10000"/>
            </a:avLst>
          </a:prstGeom>
          <a:solidFill>
            <a:srgbClr val="FFFFFF">
              <a:shade val="85000"/>
            </a:srgbClr>
          </a:solidFill>
          <a:ln>
            <a:solidFill>
              <a:srgbClr val="000000"/>
            </a:solidFill>
          </a:ln>
          <a:effectLst>
            <a:reflection blurRad="12700" stA="38000" endPos="28000" dist="5000" dir="5400000" sy="-100000" algn="bl" rotWithShape="0"/>
          </a:effectLst>
        </p:spPr>
      </p:pic>
    </p:spTree>
    <p:extLst>
      <p:ext uri="{BB962C8B-B14F-4D97-AF65-F5344CB8AC3E}">
        <p14:creationId xmlns:p14="http://schemas.microsoft.com/office/powerpoint/2010/main" val="3560383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DEEBF7"/>
        </a:solidFill>
        <a:effectLst/>
      </p:bgPr>
    </p:bg>
    <p:spTree>
      <p:nvGrpSpPr>
        <p:cNvPr id="1" name=""/>
        <p:cNvGrpSpPr/>
        <p:nvPr/>
      </p:nvGrpSpPr>
      <p:grpSpPr>
        <a:xfrm>
          <a:off x="0" y="0"/>
          <a:ext cx="0" cy="0"/>
          <a:chOff x="0" y="0"/>
          <a:chExt cx="0" cy="0"/>
        </a:xfrm>
      </p:grpSpPr>
      <p:sp>
        <p:nvSpPr>
          <p:cNvPr id="2" name="Text 0"/>
          <p:cNvSpPr/>
          <p:nvPr/>
        </p:nvSpPr>
        <p:spPr>
          <a:xfrm>
            <a:off x="731520" y="868680"/>
            <a:ext cx="10725912" cy="292608"/>
          </a:xfrm>
          <a:prstGeom prst="rect">
            <a:avLst/>
          </a:prstGeom>
          <a:noFill/>
          <a:ln/>
        </p:spPr>
        <p:txBody>
          <a:bodyPr wrap="square" lIns="0" tIns="0" rIns="0" bIns="0" rtlCol="0" anchor="ctr"/>
          <a:lstStyle/>
          <a:p>
            <a:pPr marL="0" indent="0" algn="ctr">
              <a:buNone/>
            </a:pPr>
            <a:r>
              <a:rPr lang="es-ES" sz="2800" noProof="0" dirty="0">
                <a:solidFill>
                  <a:srgbClr val="000000"/>
                </a:solidFill>
                <a:latin typeface="Consolas" pitchFamily="34" charset="0"/>
                <a:ea typeface="Consolas" pitchFamily="34" charset="-122"/>
                <a:cs typeface="Consolas" pitchFamily="34" charset="-120"/>
                <a:hlinkClick r:id="rId3"/>
              </a:rPr>
              <a:t>https://github.com/Bootcamp-IA-P6/amafe-responde</a:t>
            </a:r>
            <a:endParaRPr lang="es-ES" sz="2800" noProof="0" dirty="0"/>
          </a:p>
        </p:txBody>
      </p:sp>
      <p:sp>
        <p:nvSpPr>
          <p:cNvPr id="3" name="Text 1"/>
          <p:cNvSpPr/>
          <p:nvPr/>
        </p:nvSpPr>
        <p:spPr>
          <a:xfrm>
            <a:off x="731520" y="1554480"/>
            <a:ext cx="10725912" cy="914400"/>
          </a:xfrm>
          <a:prstGeom prst="rect">
            <a:avLst/>
          </a:prstGeom>
          <a:noFill/>
          <a:ln/>
        </p:spPr>
        <p:txBody>
          <a:bodyPr wrap="square" lIns="0" tIns="0" rIns="0" bIns="0" rtlCol="0" anchor="ctr"/>
          <a:lstStyle/>
          <a:p>
            <a:pPr marL="0" indent="0" algn="ctr">
              <a:buNone/>
            </a:pPr>
            <a:r>
              <a:rPr lang="es-ES" sz="4600" b="1" noProof="0" dirty="0">
                <a:solidFill>
                  <a:srgbClr val="4472C4"/>
                </a:solidFill>
                <a:latin typeface="Consolas" pitchFamily="34" charset="0"/>
                <a:ea typeface="Consolas" pitchFamily="34" charset="-122"/>
                <a:cs typeface="Consolas" pitchFamily="34" charset="-120"/>
              </a:rPr>
              <a:t>AMAFE Responde</a:t>
            </a:r>
            <a:endParaRPr lang="es-ES" sz="4600" noProof="0" dirty="0">
              <a:solidFill>
                <a:srgbClr val="4472C4"/>
              </a:solidFill>
            </a:endParaRPr>
          </a:p>
        </p:txBody>
      </p:sp>
      <p:sp>
        <p:nvSpPr>
          <p:cNvPr id="4" name="Text 2"/>
          <p:cNvSpPr/>
          <p:nvPr/>
        </p:nvSpPr>
        <p:spPr>
          <a:xfrm>
            <a:off x="731520" y="2926080"/>
            <a:ext cx="10725912" cy="384048"/>
          </a:xfrm>
          <a:prstGeom prst="rect">
            <a:avLst/>
          </a:prstGeom>
          <a:noFill/>
          <a:ln/>
        </p:spPr>
        <p:txBody>
          <a:bodyPr wrap="square" lIns="0" tIns="0" rIns="0" bIns="0" rtlCol="0" anchor="ctr"/>
          <a:lstStyle/>
          <a:p>
            <a:pPr marL="0" indent="0" algn="ctr">
              <a:buNone/>
            </a:pPr>
            <a:r>
              <a:rPr lang="es-ES" sz="2800" i="1" noProof="0" dirty="0">
                <a:solidFill>
                  <a:srgbClr val="000000"/>
                </a:solidFill>
                <a:latin typeface="Consolas" pitchFamily="34" charset="0"/>
                <a:ea typeface="Consolas" pitchFamily="34" charset="-122"/>
                <a:cs typeface="Consolas" pitchFamily="34" charset="-120"/>
              </a:rPr>
              <a:t>Preguntas en lenguaje Natural sobre la Documentación Pública de AMAFE</a:t>
            </a:r>
            <a:endParaRPr lang="es-ES" sz="2800" noProof="0" dirty="0"/>
          </a:p>
        </p:txBody>
      </p:sp>
      <p:sp>
        <p:nvSpPr>
          <p:cNvPr id="5" name="Shape 3"/>
          <p:cNvSpPr/>
          <p:nvPr/>
        </p:nvSpPr>
        <p:spPr>
          <a:xfrm>
            <a:off x="4956048" y="3794760"/>
            <a:ext cx="2286000" cy="0"/>
          </a:xfrm>
          <a:prstGeom prst="line">
            <a:avLst/>
          </a:prstGeom>
          <a:noFill/>
          <a:ln w="31750">
            <a:solidFill>
              <a:srgbClr val="4472C4"/>
            </a:solidFill>
            <a:prstDash val="solid"/>
          </a:ln>
        </p:spPr>
        <p:txBody>
          <a:bodyPr/>
          <a:lstStyle/>
          <a:p>
            <a:endParaRPr lang="es-ES" noProof="0" dirty="0"/>
          </a:p>
        </p:txBody>
      </p:sp>
      <p:sp>
        <p:nvSpPr>
          <p:cNvPr id="6" name="Text 4"/>
          <p:cNvSpPr/>
          <p:nvPr/>
        </p:nvSpPr>
        <p:spPr>
          <a:xfrm>
            <a:off x="731520" y="4160520"/>
            <a:ext cx="10725912" cy="329184"/>
          </a:xfrm>
          <a:prstGeom prst="rect">
            <a:avLst/>
          </a:prstGeom>
          <a:noFill/>
          <a:ln/>
        </p:spPr>
        <p:txBody>
          <a:bodyPr wrap="square" lIns="0" tIns="0" rIns="0" bIns="0" rtlCol="0" anchor="ctr"/>
          <a:lstStyle/>
          <a:p>
            <a:pPr marL="0" indent="0" algn="ctr">
              <a:buNone/>
            </a:pPr>
            <a:r>
              <a:rPr lang="es-ES" sz="2800" b="1" noProof="0" dirty="0">
                <a:solidFill>
                  <a:srgbClr val="000000"/>
                </a:solidFill>
                <a:latin typeface="Consolas" pitchFamily="34" charset="0"/>
                <a:ea typeface="Consolas" pitchFamily="34" charset="-122"/>
                <a:cs typeface="Consolas" pitchFamily="34" charset="-120"/>
              </a:rPr>
              <a:t>BootCamp de IA · Factoría F5 Madrid · Promoción P6 · Proyecto Final</a:t>
            </a:r>
            <a:endParaRPr lang="es-ES" sz="2000" noProof="0" dirty="0"/>
          </a:p>
        </p:txBody>
      </p:sp>
      <p:sp>
        <p:nvSpPr>
          <p:cNvPr id="7" name="Text 5"/>
          <p:cNvSpPr/>
          <p:nvPr/>
        </p:nvSpPr>
        <p:spPr>
          <a:xfrm>
            <a:off x="731520" y="4999482"/>
            <a:ext cx="10725912" cy="292608"/>
          </a:xfrm>
          <a:prstGeom prst="rect">
            <a:avLst/>
          </a:prstGeom>
          <a:noFill/>
          <a:ln/>
        </p:spPr>
        <p:txBody>
          <a:bodyPr wrap="square" lIns="0" tIns="0" rIns="0" bIns="0" rtlCol="0" anchor="ctr"/>
          <a:lstStyle/>
          <a:p>
            <a:pPr marL="0" indent="0" algn="ctr">
              <a:buNone/>
            </a:pPr>
            <a:r>
              <a:rPr lang="es-ES" sz="1700" b="1" noProof="0" dirty="0">
                <a:solidFill>
                  <a:srgbClr val="000000"/>
                </a:solidFill>
                <a:latin typeface="Consolas" pitchFamily="34" charset="0"/>
                <a:ea typeface="Consolas" pitchFamily="34" charset="-122"/>
                <a:cs typeface="Consolas" pitchFamily="34" charset="-120"/>
              </a:rPr>
              <a:t>Jose-Julio Ramírez y Sánchez-Escobar (JJ) · 20260730(1010-1050)J · presentación individual</a:t>
            </a:r>
            <a:endParaRPr lang="es-ES" sz="1700" b="1" noProof="0" dirty="0"/>
          </a:p>
        </p:txBody>
      </p:sp>
      <p:sp>
        <p:nvSpPr>
          <p:cNvPr id="8" name="Text 6"/>
          <p:cNvSpPr/>
          <p:nvPr/>
        </p:nvSpPr>
        <p:spPr>
          <a:xfrm>
            <a:off x="731520" y="5612130"/>
            <a:ext cx="10725912" cy="457200"/>
          </a:xfrm>
          <a:prstGeom prst="rect">
            <a:avLst/>
          </a:prstGeom>
          <a:noFill/>
          <a:ln/>
        </p:spPr>
        <p:txBody>
          <a:bodyPr wrap="square" lIns="0" tIns="0" rIns="0" bIns="0" rtlCol="0" anchor="ctr"/>
          <a:lstStyle/>
          <a:p>
            <a:pPr marL="0" indent="0" algn="ctr">
              <a:buNone/>
            </a:pPr>
            <a:r>
              <a:rPr lang="es-ES" sz="2000" i="1" noProof="0" dirty="0">
                <a:solidFill>
                  <a:srgbClr val="000000"/>
                </a:solidFill>
                <a:latin typeface="Consolas" pitchFamily="34" charset="0"/>
                <a:ea typeface="Consolas" pitchFamily="34" charset="-122"/>
                <a:cs typeface="Consolas" pitchFamily="34" charset="-120"/>
              </a:rPr>
              <a:t>Proyecto formativo. No es una herramienta oficial de AMAFE: es un ofrecimiento a la asociación, que conserva el derecho de vetarlo.</a:t>
            </a:r>
            <a:endParaRPr lang="es-ES" sz="2000" noProof="0" dirty="0"/>
          </a:p>
        </p:txBody>
      </p:sp>
      <p:sp>
        <p:nvSpPr>
          <p:cNvPr id="9" name="Text 7"/>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01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dirty="0">
                <a:solidFill>
                  <a:srgbClr val="4472C4"/>
                </a:solidFill>
                <a:latin typeface="Consolas" pitchFamily="34" charset="0"/>
                <a:ea typeface="Consolas" pitchFamily="34" charset="-122"/>
                <a:cs typeface="Consolas" pitchFamily="34" charset="-120"/>
              </a:rPr>
              <a:t>EL CONTEXTO</a:t>
            </a:r>
            <a:endParaRPr lang="es-ES" sz="2400" noProof="0" dirty="0">
              <a:solidFill>
                <a:srgbClr val="4472C4"/>
              </a:solidFill>
            </a:endParaRPr>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La historia de </a:t>
            </a:r>
            <a:r>
              <a:rPr lang="es-ES" sz="2700" b="1" noProof="0" dirty="0">
                <a:solidFill>
                  <a:srgbClr val="1A2A33"/>
                </a:solidFill>
                <a:latin typeface="Consolas" pitchFamily="34" charset="0"/>
                <a:ea typeface="Consolas" pitchFamily="34" charset="-122"/>
                <a:cs typeface="Consolas" pitchFamily="34" charset="-120"/>
                <a:hlinkClick r:id="rId3"/>
              </a:rPr>
              <a:t>AMAFE</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02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1097280" y="3520440"/>
            <a:ext cx="9994392" cy="0"/>
          </a:xfrm>
          <a:prstGeom prst="line">
            <a:avLst/>
          </a:prstGeom>
          <a:noFill/>
          <a:ln w="38100">
            <a:solidFill>
              <a:srgbClr val="4472C4"/>
            </a:solidFill>
            <a:prstDash val="solid"/>
          </a:ln>
        </p:spPr>
        <p:txBody>
          <a:bodyPr/>
          <a:lstStyle/>
          <a:p>
            <a:endParaRPr lang="es-ES" noProof="0" dirty="0"/>
          </a:p>
        </p:txBody>
      </p:sp>
      <p:sp>
        <p:nvSpPr>
          <p:cNvPr id="6" name="Shape 4"/>
          <p:cNvSpPr/>
          <p:nvPr/>
        </p:nvSpPr>
        <p:spPr>
          <a:xfrm>
            <a:off x="1435608" y="3401568"/>
            <a:ext cx="237744" cy="237744"/>
          </a:xfrm>
          <a:prstGeom prst="ellipse">
            <a:avLst/>
          </a:prstGeom>
          <a:solidFill>
            <a:srgbClr val="4472C4"/>
          </a:solidFill>
          <a:ln w="19050">
            <a:solidFill>
              <a:srgbClr val="FFFFFF"/>
            </a:solidFill>
            <a:prstDash val="solid"/>
          </a:ln>
        </p:spPr>
        <p:txBody>
          <a:bodyPr/>
          <a:lstStyle/>
          <a:p>
            <a:endParaRPr lang="es-ES" noProof="0" dirty="0"/>
          </a:p>
        </p:txBody>
      </p:sp>
      <p:sp>
        <p:nvSpPr>
          <p:cNvPr id="7" name="Text 5"/>
          <p:cNvSpPr/>
          <p:nvPr/>
        </p:nvSpPr>
        <p:spPr>
          <a:xfrm>
            <a:off x="320040" y="2286000"/>
            <a:ext cx="2468880" cy="685800"/>
          </a:xfrm>
          <a:prstGeom prst="rect">
            <a:avLst/>
          </a:prstGeom>
          <a:noFill/>
          <a:ln/>
        </p:spPr>
        <p:txBody>
          <a:bodyPr wrap="square" lIns="0" tIns="0" rIns="0" bIns="0" rtlCol="0" anchor="ctr"/>
          <a:lstStyle/>
          <a:p>
            <a:pPr marL="0" indent="0" algn="ctr">
              <a:buNone/>
            </a:pPr>
            <a:r>
              <a:rPr lang="es-ES" sz="3400" b="1" noProof="0" dirty="0">
                <a:solidFill>
                  <a:srgbClr val="1A2A33"/>
                </a:solidFill>
                <a:latin typeface="Consolas" pitchFamily="34" charset="0"/>
                <a:ea typeface="Consolas" pitchFamily="34" charset="-122"/>
                <a:cs typeface="Consolas" pitchFamily="34" charset="-120"/>
              </a:rPr>
              <a:t>1989</a:t>
            </a:r>
            <a:endParaRPr lang="es-ES" sz="3400" noProof="0" dirty="0"/>
          </a:p>
        </p:txBody>
      </p:sp>
      <p:sp>
        <p:nvSpPr>
          <p:cNvPr id="8" name="Shape 6"/>
          <p:cNvSpPr/>
          <p:nvPr/>
        </p:nvSpPr>
        <p:spPr>
          <a:xfrm>
            <a:off x="4462272" y="3401568"/>
            <a:ext cx="237744" cy="237744"/>
          </a:xfrm>
          <a:prstGeom prst="ellipse">
            <a:avLst/>
          </a:prstGeom>
          <a:solidFill>
            <a:srgbClr val="4472C4"/>
          </a:solidFill>
          <a:ln w="19050">
            <a:solidFill>
              <a:srgbClr val="FFFFFF"/>
            </a:solidFill>
            <a:prstDash val="solid"/>
          </a:ln>
        </p:spPr>
        <p:txBody>
          <a:bodyPr/>
          <a:lstStyle/>
          <a:p>
            <a:endParaRPr lang="es-ES" noProof="0" dirty="0"/>
          </a:p>
        </p:txBody>
      </p:sp>
      <p:sp>
        <p:nvSpPr>
          <p:cNvPr id="9" name="Text 7"/>
          <p:cNvSpPr/>
          <p:nvPr/>
        </p:nvSpPr>
        <p:spPr>
          <a:xfrm>
            <a:off x="3346704" y="2286000"/>
            <a:ext cx="2468880" cy="685800"/>
          </a:xfrm>
          <a:prstGeom prst="rect">
            <a:avLst/>
          </a:prstGeom>
          <a:noFill/>
          <a:ln/>
        </p:spPr>
        <p:txBody>
          <a:bodyPr wrap="square" lIns="0" tIns="0" rIns="0" bIns="0" rtlCol="0" anchor="ctr"/>
          <a:lstStyle/>
          <a:p>
            <a:pPr marL="0" indent="0" algn="ctr">
              <a:buNone/>
            </a:pPr>
            <a:r>
              <a:rPr lang="es-ES" sz="3400" b="1" noProof="0" dirty="0">
                <a:solidFill>
                  <a:srgbClr val="1A2A33"/>
                </a:solidFill>
                <a:latin typeface="Consolas" pitchFamily="34" charset="0"/>
                <a:ea typeface="Consolas" pitchFamily="34" charset="-122"/>
                <a:cs typeface="Consolas" pitchFamily="34" charset="-120"/>
              </a:rPr>
              <a:t>1991</a:t>
            </a:r>
            <a:endParaRPr lang="es-ES" sz="3400" noProof="0" dirty="0"/>
          </a:p>
        </p:txBody>
      </p:sp>
      <p:sp>
        <p:nvSpPr>
          <p:cNvPr id="10" name="Text 8"/>
          <p:cNvSpPr/>
          <p:nvPr/>
        </p:nvSpPr>
        <p:spPr>
          <a:xfrm>
            <a:off x="3118104" y="3867912"/>
            <a:ext cx="2926080" cy="365760"/>
          </a:xfrm>
          <a:prstGeom prst="rect">
            <a:avLst/>
          </a:prstGeom>
          <a:noFill/>
          <a:ln/>
        </p:spPr>
        <p:txBody>
          <a:bodyPr wrap="square" lIns="0" tIns="0" rIns="0" bIns="0" rtlCol="0" anchor="ctr"/>
          <a:lstStyle/>
          <a:p>
            <a:pPr marL="0" indent="0" algn="ctr">
              <a:buNone/>
            </a:pPr>
            <a:r>
              <a:rPr lang="es-ES" sz="1600" i="1" noProof="0">
                <a:solidFill>
                  <a:srgbClr val="4472C4"/>
                </a:solidFill>
                <a:latin typeface="Consolas" pitchFamily="34" charset="0"/>
                <a:ea typeface="Consolas" pitchFamily="34" charset="-122"/>
                <a:cs typeface="Consolas" pitchFamily="34" charset="-120"/>
              </a:rPr>
              <a:t>«Cuarto de Estar»</a:t>
            </a:r>
            <a:endParaRPr lang="es-ES" sz="1600" noProof="0" dirty="0"/>
          </a:p>
        </p:txBody>
      </p:sp>
      <p:sp>
        <p:nvSpPr>
          <p:cNvPr id="11" name="Shape 9"/>
          <p:cNvSpPr/>
          <p:nvPr/>
        </p:nvSpPr>
        <p:spPr>
          <a:xfrm>
            <a:off x="7488936" y="3401568"/>
            <a:ext cx="237744" cy="237744"/>
          </a:xfrm>
          <a:prstGeom prst="ellipse">
            <a:avLst/>
          </a:prstGeom>
          <a:solidFill>
            <a:srgbClr val="4472C4"/>
          </a:solidFill>
          <a:ln w="19050">
            <a:solidFill>
              <a:srgbClr val="FFFFFF"/>
            </a:solidFill>
            <a:prstDash val="solid"/>
          </a:ln>
        </p:spPr>
        <p:txBody>
          <a:bodyPr/>
          <a:lstStyle/>
          <a:p>
            <a:endParaRPr lang="es-ES" noProof="0" dirty="0"/>
          </a:p>
        </p:txBody>
      </p:sp>
      <p:sp>
        <p:nvSpPr>
          <p:cNvPr id="12" name="Text 10"/>
          <p:cNvSpPr/>
          <p:nvPr/>
        </p:nvSpPr>
        <p:spPr>
          <a:xfrm>
            <a:off x="6373368" y="2286000"/>
            <a:ext cx="2468880" cy="685800"/>
          </a:xfrm>
          <a:prstGeom prst="rect">
            <a:avLst/>
          </a:prstGeom>
          <a:noFill/>
          <a:ln/>
        </p:spPr>
        <p:txBody>
          <a:bodyPr wrap="square" lIns="0" tIns="0" rIns="0" bIns="0" rtlCol="0" anchor="ctr"/>
          <a:lstStyle/>
          <a:p>
            <a:pPr marL="0" indent="0" algn="ctr">
              <a:buNone/>
            </a:pPr>
            <a:r>
              <a:rPr lang="es-ES" sz="3400" b="1" noProof="0" dirty="0">
                <a:solidFill>
                  <a:srgbClr val="1A2A33"/>
                </a:solidFill>
                <a:latin typeface="Consolas" pitchFamily="34" charset="0"/>
                <a:ea typeface="Consolas" pitchFamily="34" charset="-122"/>
                <a:cs typeface="Consolas" pitchFamily="34" charset="-120"/>
              </a:rPr>
              <a:t>1996</a:t>
            </a:r>
            <a:endParaRPr lang="es-ES" sz="3400" noProof="0" dirty="0"/>
          </a:p>
        </p:txBody>
      </p:sp>
      <p:sp>
        <p:nvSpPr>
          <p:cNvPr id="13" name="Shape 11"/>
          <p:cNvSpPr/>
          <p:nvPr/>
        </p:nvSpPr>
        <p:spPr>
          <a:xfrm>
            <a:off x="10515600" y="3401568"/>
            <a:ext cx="237744" cy="237744"/>
          </a:xfrm>
          <a:prstGeom prst="ellipse">
            <a:avLst/>
          </a:prstGeom>
          <a:solidFill>
            <a:srgbClr val="C2410C"/>
          </a:solidFill>
          <a:ln w="19050">
            <a:solidFill>
              <a:srgbClr val="FFFFFF"/>
            </a:solidFill>
            <a:prstDash val="solid"/>
          </a:ln>
        </p:spPr>
        <p:txBody>
          <a:bodyPr/>
          <a:lstStyle/>
          <a:p>
            <a:endParaRPr lang="es-ES" noProof="0" dirty="0"/>
          </a:p>
        </p:txBody>
      </p:sp>
      <p:sp>
        <p:nvSpPr>
          <p:cNvPr id="14" name="Text 12"/>
          <p:cNvSpPr/>
          <p:nvPr/>
        </p:nvSpPr>
        <p:spPr>
          <a:xfrm>
            <a:off x="9400032" y="2286000"/>
            <a:ext cx="2468880" cy="685800"/>
          </a:xfrm>
          <a:prstGeom prst="rect">
            <a:avLst/>
          </a:prstGeom>
          <a:noFill/>
          <a:ln/>
        </p:spPr>
        <p:txBody>
          <a:bodyPr wrap="square" lIns="0" tIns="0" rIns="0" bIns="0" rtlCol="0" anchor="ctr"/>
          <a:lstStyle/>
          <a:p>
            <a:pPr marL="0" indent="0" algn="ctr">
              <a:buNone/>
            </a:pPr>
            <a:r>
              <a:rPr lang="es-ES" sz="3400" b="1" noProof="0" dirty="0">
                <a:solidFill>
                  <a:srgbClr val="C2410C"/>
                </a:solidFill>
                <a:latin typeface="Consolas" pitchFamily="34" charset="0"/>
                <a:ea typeface="Consolas" pitchFamily="34" charset="-122"/>
                <a:cs typeface="Consolas" pitchFamily="34" charset="-120"/>
              </a:rPr>
              <a:t>hoy</a:t>
            </a:r>
            <a:endParaRPr lang="es-ES" sz="34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dirty="0">
                <a:solidFill>
                  <a:srgbClr val="4472C4"/>
                </a:solidFill>
                <a:latin typeface="Consolas" pitchFamily="34" charset="0"/>
                <a:ea typeface="Consolas" pitchFamily="34" charset="-122"/>
                <a:cs typeface="Consolas" pitchFamily="34" charset="-120"/>
              </a:rPr>
              <a:t>PUNTO DE PARTIDA</a:t>
            </a:r>
            <a:endParaRPr lang="es-ES" sz="2400" noProof="0" dirty="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El reto: tres conceptos</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03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Text 3"/>
          <p:cNvSpPr/>
          <p:nvPr/>
        </p:nvSpPr>
        <p:spPr>
          <a:xfrm>
            <a:off x="731520" y="1600200"/>
            <a:ext cx="10725912" cy="914400"/>
          </a:xfrm>
          <a:prstGeom prst="rect">
            <a:avLst/>
          </a:prstGeom>
          <a:noFill/>
          <a:ln/>
        </p:spPr>
        <p:txBody>
          <a:bodyPr wrap="square" lIns="0" tIns="0" rIns="0" bIns="0" rtlCol="0" anchor="ctr"/>
          <a:lstStyle/>
          <a:p>
            <a:pPr marL="0" indent="0" algn="ctr">
              <a:buNone/>
            </a:pPr>
            <a:r>
              <a:rPr lang="es-ES" sz="4600" b="1" kern="0" spc="300" noProof="0" dirty="0">
                <a:solidFill>
                  <a:srgbClr val="1A2A33"/>
                </a:solidFill>
                <a:latin typeface="Consolas" pitchFamily="34" charset="0"/>
                <a:ea typeface="Consolas" pitchFamily="34" charset="-122"/>
                <a:cs typeface="Consolas" pitchFamily="34" charset="-120"/>
              </a:rPr>
              <a:t>RESPONDER</a:t>
            </a:r>
            <a:endParaRPr lang="es-ES" sz="4600" noProof="0" dirty="0"/>
          </a:p>
        </p:txBody>
      </p:sp>
      <p:sp>
        <p:nvSpPr>
          <p:cNvPr id="6" name="Text 4"/>
          <p:cNvSpPr/>
          <p:nvPr/>
        </p:nvSpPr>
        <p:spPr>
          <a:xfrm>
            <a:off x="731520" y="2971800"/>
            <a:ext cx="10725912" cy="914400"/>
          </a:xfrm>
          <a:prstGeom prst="rect">
            <a:avLst/>
          </a:prstGeom>
          <a:noFill/>
          <a:ln/>
        </p:spPr>
        <p:txBody>
          <a:bodyPr wrap="square" lIns="0" tIns="0" rIns="0" bIns="0" rtlCol="0" anchor="ctr"/>
          <a:lstStyle/>
          <a:p>
            <a:pPr marL="0" indent="0" algn="ctr">
              <a:buNone/>
            </a:pPr>
            <a:r>
              <a:rPr lang="es-ES" sz="4600" b="1" kern="0" spc="300" noProof="0" dirty="0">
                <a:solidFill>
                  <a:srgbClr val="4472C4"/>
                </a:solidFill>
                <a:latin typeface="Consolas" pitchFamily="34" charset="0"/>
                <a:ea typeface="Consolas" pitchFamily="34" charset="-122"/>
                <a:cs typeface="Consolas" pitchFamily="34" charset="-120"/>
              </a:rPr>
              <a:t>CITAR</a:t>
            </a:r>
            <a:endParaRPr lang="es-ES" sz="4600" noProof="0" dirty="0"/>
          </a:p>
        </p:txBody>
      </p:sp>
      <p:sp>
        <p:nvSpPr>
          <p:cNvPr id="7" name="Text 5"/>
          <p:cNvSpPr/>
          <p:nvPr/>
        </p:nvSpPr>
        <p:spPr>
          <a:xfrm>
            <a:off x="731520" y="4343400"/>
            <a:ext cx="10725912" cy="914400"/>
          </a:xfrm>
          <a:prstGeom prst="rect">
            <a:avLst/>
          </a:prstGeom>
          <a:noFill/>
          <a:ln/>
        </p:spPr>
        <p:txBody>
          <a:bodyPr wrap="square" lIns="0" tIns="0" rIns="0" bIns="0" rtlCol="0" anchor="ctr"/>
          <a:lstStyle/>
          <a:p>
            <a:pPr marL="0" indent="0" algn="ctr">
              <a:buNone/>
            </a:pPr>
            <a:r>
              <a:rPr lang="es-ES" sz="4600" b="1" kern="0" spc="300" noProof="0" dirty="0">
                <a:solidFill>
                  <a:srgbClr val="C2410C"/>
                </a:solidFill>
                <a:latin typeface="Consolas" pitchFamily="34" charset="0"/>
                <a:ea typeface="Consolas" pitchFamily="34" charset="-122"/>
                <a:cs typeface="Consolas" pitchFamily="34" charset="-120"/>
              </a:rPr>
              <a:t>NO SÉ</a:t>
            </a:r>
            <a:endParaRPr lang="es-ES" sz="4600" noProof="0" dirty="0"/>
          </a:p>
        </p:txBody>
      </p:sp>
      <p:sp>
        <p:nvSpPr>
          <p:cNvPr id="8" name="Text 6"/>
          <p:cNvSpPr/>
          <p:nvPr/>
        </p:nvSpPr>
        <p:spPr>
          <a:xfrm>
            <a:off x="731520" y="5623560"/>
            <a:ext cx="10725912" cy="365760"/>
          </a:xfrm>
          <a:prstGeom prst="rect">
            <a:avLst/>
          </a:prstGeom>
          <a:noFill/>
          <a:ln/>
        </p:spPr>
        <p:txBody>
          <a:bodyPr wrap="square" lIns="0" tIns="0" rIns="0" bIns="0" rtlCol="0" anchor="ctr"/>
          <a:lstStyle/>
          <a:p>
            <a:pPr marL="0" indent="0" algn="ctr">
              <a:buNone/>
            </a:pPr>
            <a:r>
              <a:rPr lang="es-ES" sz="1600" i="1" noProof="0" dirty="0">
                <a:solidFill>
                  <a:srgbClr val="6B7280"/>
                </a:solidFill>
                <a:latin typeface="Consolas" pitchFamily="34" charset="0"/>
                <a:ea typeface="Consolas" pitchFamily="34" charset="-122"/>
                <a:cs typeface="Consolas" pitchFamily="34" charset="-120"/>
              </a:rPr>
              <a:t>…y que todo quede registrado.</a:t>
            </a:r>
            <a:endParaRPr lang="es-ES" sz="16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dirty="0">
                <a:solidFill>
                  <a:srgbClr val="4472C4"/>
                </a:solidFill>
                <a:latin typeface="Consolas" pitchFamily="34" charset="0"/>
                <a:ea typeface="Consolas" pitchFamily="34" charset="-122"/>
                <a:cs typeface="Consolas" pitchFamily="34" charset="-120"/>
              </a:rPr>
              <a:t>ARQUITECTURA · CONSTRUCCIÓN</a:t>
            </a:r>
            <a:endParaRPr lang="es-ES" sz="2400" noProof="0" dirty="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Cómo se construye</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04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8640" y="1508760"/>
            <a:ext cx="2523744" cy="1143000"/>
          </a:xfrm>
          <a:prstGeom prst="roundRect">
            <a:avLst>
              <a:gd name="adj" fmla="val 4800"/>
            </a:avLst>
          </a:prstGeom>
          <a:solidFill>
            <a:srgbClr val="DEEBF7"/>
          </a:solidFill>
          <a:ln w="9525">
            <a:solidFill>
              <a:srgbClr val="CFD8DC"/>
            </a:solidFill>
            <a:prstDash val="solid"/>
          </a:ln>
        </p:spPr>
        <p:txBody>
          <a:bodyPr/>
          <a:lstStyle/>
          <a:p>
            <a:endParaRPr lang="es-ES" noProof="0" dirty="0"/>
          </a:p>
        </p:txBody>
      </p:sp>
      <p:sp>
        <p:nvSpPr>
          <p:cNvPr id="6" name="Text 4"/>
          <p:cNvSpPr/>
          <p:nvPr/>
        </p:nvSpPr>
        <p:spPr>
          <a:xfrm>
            <a:off x="548640" y="1874520"/>
            <a:ext cx="2523744" cy="411480"/>
          </a:xfrm>
          <a:prstGeom prst="rect">
            <a:avLst/>
          </a:prstGeom>
          <a:noFill/>
          <a:ln/>
        </p:spPr>
        <p:txBody>
          <a:bodyPr wrap="square" lIns="0" tIns="0" rIns="0" bIns="0" rtlCol="0" anchor="ctr"/>
          <a:lstStyle/>
          <a:p>
            <a:pPr marL="0" indent="0" algn="ctr">
              <a:buNone/>
            </a:pPr>
            <a:r>
              <a:rPr lang="es-ES" sz="2000" b="1" noProof="0" dirty="0">
                <a:solidFill>
                  <a:srgbClr val="4472C4"/>
                </a:solidFill>
                <a:latin typeface="Consolas" pitchFamily="34" charset="0"/>
                <a:ea typeface="Consolas" pitchFamily="34" charset="-122"/>
                <a:cs typeface="Consolas" pitchFamily="34" charset="-120"/>
              </a:rPr>
              <a:t>web pública</a:t>
            </a:r>
            <a:endParaRPr lang="es-ES" sz="2000" noProof="0" dirty="0"/>
          </a:p>
        </p:txBody>
      </p:sp>
      <p:sp>
        <p:nvSpPr>
          <p:cNvPr id="7" name="Shape 5"/>
          <p:cNvSpPr/>
          <p:nvPr/>
        </p:nvSpPr>
        <p:spPr>
          <a:xfrm>
            <a:off x="3099816" y="2080260"/>
            <a:ext cx="274320" cy="0"/>
          </a:xfrm>
          <a:prstGeom prst="line">
            <a:avLst/>
          </a:prstGeom>
          <a:noFill/>
          <a:ln w="25400">
            <a:solidFill>
              <a:srgbClr val="4472C4"/>
            </a:solidFill>
            <a:prstDash val="solid"/>
            <a:tailEnd type="triangle"/>
          </a:ln>
        </p:spPr>
        <p:txBody>
          <a:bodyPr/>
          <a:lstStyle/>
          <a:p>
            <a:endParaRPr lang="es-ES" noProof="0" dirty="0"/>
          </a:p>
        </p:txBody>
      </p:sp>
      <p:sp>
        <p:nvSpPr>
          <p:cNvPr id="8" name="Shape 6"/>
          <p:cNvSpPr/>
          <p:nvPr/>
        </p:nvSpPr>
        <p:spPr>
          <a:xfrm>
            <a:off x="3401568" y="1508760"/>
            <a:ext cx="2523744" cy="1143000"/>
          </a:xfrm>
          <a:prstGeom prst="roundRect">
            <a:avLst>
              <a:gd name="adj" fmla="val 4800"/>
            </a:avLst>
          </a:prstGeom>
          <a:solidFill>
            <a:srgbClr val="DEEBF7"/>
          </a:solidFill>
          <a:ln w="9525">
            <a:solidFill>
              <a:srgbClr val="CFD8DC"/>
            </a:solidFill>
            <a:prstDash val="solid"/>
          </a:ln>
        </p:spPr>
        <p:txBody>
          <a:bodyPr/>
          <a:lstStyle/>
          <a:p>
            <a:endParaRPr lang="es-ES" noProof="0" dirty="0"/>
          </a:p>
        </p:txBody>
      </p:sp>
      <p:sp>
        <p:nvSpPr>
          <p:cNvPr id="9" name="Text 7"/>
          <p:cNvSpPr/>
          <p:nvPr/>
        </p:nvSpPr>
        <p:spPr>
          <a:xfrm>
            <a:off x="3401568" y="1874520"/>
            <a:ext cx="2523744" cy="411480"/>
          </a:xfrm>
          <a:prstGeom prst="rect">
            <a:avLst/>
          </a:prstGeom>
          <a:noFill/>
          <a:ln/>
        </p:spPr>
        <p:txBody>
          <a:bodyPr wrap="square" lIns="0" tIns="0" rIns="0" bIns="0" rtlCol="0" anchor="ctr"/>
          <a:lstStyle/>
          <a:p>
            <a:pPr marL="0" indent="0" algn="ctr">
              <a:buNone/>
            </a:pPr>
            <a:r>
              <a:rPr lang="es-ES" sz="2000" b="1" noProof="0" dirty="0">
                <a:solidFill>
                  <a:srgbClr val="4472C4"/>
                </a:solidFill>
                <a:latin typeface="Consolas" pitchFamily="34" charset="0"/>
                <a:ea typeface="Consolas" pitchFamily="34" charset="-122"/>
                <a:cs typeface="Consolas" pitchFamily="34" charset="-120"/>
              </a:rPr>
              <a:t>limpiar</a:t>
            </a:r>
            <a:endParaRPr lang="es-ES" sz="2000" noProof="0" dirty="0"/>
          </a:p>
        </p:txBody>
      </p:sp>
      <p:sp>
        <p:nvSpPr>
          <p:cNvPr id="10" name="Shape 8"/>
          <p:cNvSpPr/>
          <p:nvPr/>
        </p:nvSpPr>
        <p:spPr>
          <a:xfrm>
            <a:off x="5952744" y="2080260"/>
            <a:ext cx="274320" cy="0"/>
          </a:xfrm>
          <a:prstGeom prst="line">
            <a:avLst/>
          </a:prstGeom>
          <a:noFill/>
          <a:ln w="25400">
            <a:solidFill>
              <a:srgbClr val="4472C4"/>
            </a:solidFill>
            <a:prstDash val="solid"/>
            <a:tailEnd type="triangle"/>
          </a:ln>
        </p:spPr>
        <p:txBody>
          <a:bodyPr/>
          <a:lstStyle/>
          <a:p>
            <a:endParaRPr lang="es-ES" noProof="0" dirty="0"/>
          </a:p>
        </p:txBody>
      </p:sp>
      <p:sp>
        <p:nvSpPr>
          <p:cNvPr id="11" name="Shape 9"/>
          <p:cNvSpPr/>
          <p:nvPr/>
        </p:nvSpPr>
        <p:spPr>
          <a:xfrm>
            <a:off x="6254496" y="1508760"/>
            <a:ext cx="2523744" cy="1143000"/>
          </a:xfrm>
          <a:prstGeom prst="roundRect">
            <a:avLst>
              <a:gd name="adj" fmla="val 4800"/>
            </a:avLst>
          </a:prstGeom>
          <a:solidFill>
            <a:srgbClr val="DEEBF7"/>
          </a:solidFill>
          <a:ln w="9525">
            <a:solidFill>
              <a:srgbClr val="CFD8DC"/>
            </a:solidFill>
            <a:prstDash val="solid"/>
          </a:ln>
        </p:spPr>
        <p:txBody>
          <a:bodyPr/>
          <a:lstStyle/>
          <a:p>
            <a:endParaRPr lang="es-ES" noProof="0" dirty="0"/>
          </a:p>
        </p:txBody>
      </p:sp>
      <p:sp>
        <p:nvSpPr>
          <p:cNvPr id="12" name="Text 10"/>
          <p:cNvSpPr/>
          <p:nvPr/>
        </p:nvSpPr>
        <p:spPr>
          <a:xfrm>
            <a:off x="6254496" y="1874520"/>
            <a:ext cx="2523744" cy="411480"/>
          </a:xfrm>
          <a:prstGeom prst="rect">
            <a:avLst/>
          </a:prstGeom>
          <a:noFill/>
          <a:ln/>
        </p:spPr>
        <p:txBody>
          <a:bodyPr wrap="square" lIns="0" tIns="0" rIns="0" bIns="0" rtlCol="0" anchor="ctr"/>
          <a:lstStyle/>
          <a:p>
            <a:pPr marL="0" indent="0" algn="ctr">
              <a:buNone/>
            </a:pPr>
            <a:r>
              <a:rPr lang="es-ES" sz="2000" b="1" noProof="0" dirty="0">
                <a:solidFill>
                  <a:srgbClr val="4472C4"/>
                </a:solidFill>
                <a:latin typeface="Consolas" pitchFamily="34" charset="0"/>
                <a:ea typeface="Consolas" pitchFamily="34" charset="-122"/>
                <a:cs typeface="Consolas" pitchFamily="34" charset="-120"/>
              </a:rPr>
              <a:t>trocear</a:t>
            </a:r>
            <a:endParaRPr lang="es-ES" sz="2000" noProof="0" dirty="0"/>
          </a:p>
        </p:txBody>
      </p:sp>
      <p:sp>
        <p:nvSpPr>
          <p:cNvPr id="13" name="Shape 11"/>
          <p:cNvSpPr/>
          <p:nvPr/>
        </p:nvSpPr>
        <p:spPr>
          <a:xfrm>
            <a:off x="8805672" y="2080260"/>
            <a:ext cx="274320" cy="0"/>
          </a:xfrm>
          <a:prstGeom prst="line">
            <a:avLst/>
          </a:prstGeom>
          <a:noFill/>
          <a:ln w="25400">
            <a:solidFill>
              <a:srgbClr val="4472C4"/>
            </a:solidFill>
            <a:prstDash val="solid"/>
            <a:tailEnd type="triangle"/>
          </a:ln>
        </p:spPr>
        <p:txBody>
          <a:bodyPr/>
          <a:lstStyle/>
          <a:p>
            <a:endParaRPr lang="es-ES" noProof="0" dirty="0"/>
          </a:p>
        </p:txBody>
      </p:sp>
      <p:sp>
        <p:nvSpPr>
          <p:cNvPr id="14" name="Shape 12"/>
          <p:cNvSpPr/>
          <p:nvPr/>
        </p:nvSpPr>
        <p:spPr>
          <a:xfrm>
            <a:off x="9107424" y="1508760"/>
            <a:ext cx="2523744" cy="1143000"/>
          </a:xfrm>
          <a:prstGeom prst="roundRect">
            <a:avLst>
              <a:gd name="adj" fmla="val 4800"/>
            </a:avLst>
          </a:prstGeom>
          <a:solidFill>
            <a:srgbClr val="DEEBF7"/>
          </a:solidFill>
          <a:ln w="9525">
            <a:solidFill>
              <a:srgbClr val="CFD8DC"/>
            </a:solidFill>
            <a:prstDash val="solid"/>
          </a:ln>
        </p:spPr>
        <p:txBody>
          <a:bodyPr/>
          <a:lstStyle/>
          <a:p>
            <a:endParaRPr lang="es-ES" noProof="0" dirty="0"/>
          </a:p>
        </p:txBody>
      </p:sp>
      <p:sp>
        <p:nvSpPr>
          <p:cNvPr id="15" name="Text 13"/>
          <p:cNvSpPr/>
          <p:nvPr/>
        </p:nvSpPr>
        <p:spPr>
          <a:xfrm>
            <a:off x="9107424" y="1874520"/>
            <a:ext cx="2523744" cy="411480"/>
          </a:xfrm>
          <a:prstGeom prst="rect">
            <a:avLst/>
          </a:prstGeom>
          <a:noFill/>
          <a:ln/>
        </p:spPr>
        <p:txBody>
          <a:bodyPr wrap="square" lIns="0" tIns="0" rIns="0" bIns="0" rtlCol="0" anchor="ctr"/>
          <a:lstStyle/>
          <a:p>
            <a:pPr marL="0" indent="0" algn="ctr">
              <a:buNone/>
            </a:pPr>
            <a:r>
              <a:rPr lang="es-ES" sz="2000" b="1" noProof="0" dirty="0">
                <a:solidFill>
                  <a:srgbClr val="4472C4"/>
                </a:solidFill>
                <a:latin typeface="Consolas" pitchFamily="34" charset="0"/>
                <a:ea typeface="Consolas" pitchFamily="34" charset="-122"/>
                <a:cs typeface="Consolas" pitchFamily="34" charset="-120"/>
              </a:rPr>
              <a:t>vectorizar</a:t>
            </a:r>
            <a:endParaRPr lang="es-ES" sz="2000" noProof="0" dirty="0"/>
          </a:p>
        </p:txBody>
      </p:sp>
      <p:sp>
        <p:nvSpPr>
          <p:cNvPr id="16" name="Shape 14"/>
          <p:cNvSpPr/>
          <p:nvPr/>
        </p:nvSpPr>
        <p:spPr>
          <a:xfrm>
            <a:off x="548640" y="3246120"/>
            <a:ext cx="3602736"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17" name="Text 15"/>
          <p:cNvSpPr/>
          <p:nvPr/>
        </p:nvSpPr>
        <p:spPr>
          <a:xfrm>
            <a:off x="548640" y="3538728"/>
            <a:ext cx="3602736" cy="868680"/>
          </a:xfrm>
          <a:prstGeom prst="rect">
            <a:avLst/>
          </a:prstGeom>
          <a:noFill/>
          <a:ln/>
        </p:spPr>
        <p:txBody>
          <a:bodyPr wrap="square" lIns="0" tIns="0" rIns="0" bIns="0" rtlCol="0" anchor="ctr"/>
          <a:lstStyle/>
          <a:p>
            <a:pPr marL="0" indent="0" algn="ctr">
              <a:buNone/>
            </a:pPr>
            <a:r>
              <a:rPr lang="es-ES" sz="4800" b="1" noProof="0">
                <a:solidFill>
                  <a:srgbClr val="4472C4"/>
                </a:solidFill>
                <a:latin typeface="Consolas" pitchFamily="34" charset="0"/>
                <a:ea typeface="Consolas" pitchFamily="34" charset="-122"/>
                <a:cs typeface="Consolas" pitchFamily="34" charset="-120"/>
              </a:rPr>
              <a:t>605</a:t>
            </a:r>
            <a:endParaRPr lang="es-ES" sz="4800" noProof="0" dirty="0"/>
          </a:p>
        </p:txBody>
      </p:sp>
      <p:sp>
        <p:nvSpPr>
          <p:cNvPr id="18" name="Text 16"/>
          <p:cNvSpPr/>
          <p:nvPr/>
        </p:nvSpPr>
        <p:spPr>
          <a:xfrm>
            <a:off x="731520" y="4507992"/>
            <a:ext cx="3236976" cy="365760"/>
          </a:xfrm>
          <a:prstGeom prst="rect">
            <a:avLst/>
          </a:prstGeom>
          <a:noFill/>
          <a:ln/>
        </p:spPr>
        <p:txBody>
          <a:bodyPr wrap="square" lIns="0" tIns="0" rIns="0" bIns="0" rtlCol="0" anchor="ctr"/>
          <a:lstStyle/>
          <a:p>
            <a:pPr marL="0" indent="0" algn="ctr">
              <a:buNone/>
            </a:pPr>
            <a:r>
              <a:rPr lang="es-ES" sz="1800" b="1" noProof="0">
                <a:solidFill>
                  <a:srgbClr val="1A2A33"/>
                </a:solidFill>
                <a:latin typeface="Consolas" pitchFamily="34" charset="0"/>
                <a:ea typeface="Consolas" pitchFamily="34" charset="-122"/>
                <a:cs typeface="Consolas" pitchFamily="34" charset="-120"/>
              </a:rPr>
              <a:t>fragmentos</a:t>
            </a:r>
            <a:endParaRPr lang="es-ES" sz="1800" noProof="0"/>
          </a:p>
        </p:txBody>
      </p:sp>
      <p:sp>
        <p:nvSpPr>
          <p:cNvPr id="19" name="Text 17"/>
          <p:cNvSpPr/>
          <p:nvPr/>
        </p:nvSpPr>
        <p:spPr>
          <a:xfrm>
            <a:off x="731520" y="4892040"/>
            <a:ext cx="3236976" cy="365760"/>
          </a:xfrm>
          <a:prstGeom prst="rect">
            <a:avLst/>
          </a:prstGeom>
          <a:noFill/>
          <a:ln/>
        </p:spPr>
        <p:txBody>
          <a:bodyPr wrap="square" lIns="0" tIns="0" rIns="0" bIns="0" rtlCol="0" anchor="ctr"/>
          <a:lstStyle/>
          <a:p>
            <a:pPr marL="0" indent="0" algn="ctr">
              <a:buNone/>
            </a:pPr>
            <a:r>
              <a:rPr lang="es-ES" sz="1400" noProof="0">
                <a:solidFill>
                  <a:srgbClr val="6B7280"/>
                </a:solidFill>
                <a:latin typeface="Consolas" pitchFamily="34" charset="0"/>
                <a:ea typeface="Consolas" pitchFamily="34" charset="-122"/>
                <a:cs typeface="Consolas" pitchFamily="34" charset="-120"/>
              </a:rPr>
              <a:t>408 es · 197 en</a:t>
            </a:r>
            <a:endParaRPr lang="es-ES" sz="1400" noProof="0"/>
          </a:p>
        </p:txBody>
      </p:sp>
      <p:sp>
        <p:nvSpPr>
          <p:cNvPr id="20" name="Shape 18"/>
          <p:cNvSpPr/>
          <p:nvPr/>
        </p:nvSpPr>
        <p:spPr>
          <a:xfrm>
            <a:off x="4293108" y="3246120"/>
            <a:ext cx="3602736"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21" name="Text 19"/>
          <p:cNvSpPr/>
          <p:nvPr/>
        </p:nvSpPr>
        <p:spPr>
          <a:xfrm>
            <a:off x="4293108" y="3538728"/>
            <a:ext cx="3602736" cy="868680"/>
          </a:xfrm>
          <a:prstGeom prst="rect">
            <a:avLst/>
          </a:prstGeom>
          <a:noFill/>
          <a:ln/>
        </p:spPr>
        <p:txBody>
          <a:bodyPr wrap="square" lIns="0" tIns="0" rIns="0" bIns="0" rtlCol="0" anchor="ctr"/>
          <a:lstStyle/>
          <a:p>
            <a:pPr marL="0" indent="0" algn="ctr">
              <a:buNone/>
            </a:pPr>
            <a:r>
              <a:rPr lang="es-ES" sz="4800" b="1" noProof="0">
                <a:solidFill>
                  <a:srgbClr val="4472C4"/>
                </a:solidFill>
                <a:latin typeface="Consolas" pitchFamily="34" charset="0"/>
                <a:ea typeface="Consolas" pitchFamily="34" charset="-122"/>
                <a:cs typeface="Consolas" pitchFamily="34" charset="-120"/>
              </a:rPr>
              <a:t>384</a:t>
            </a:r>
            <a:endParaRPr lang="es-ES" sz="4800" noProof="0" dirty="0"/>
          </a:p>
        </p:txBody>
      </p:sp>
      <p:sp>
        <p:nvSpPr>
          <p:cNvPr id="22" name="Text 20"/>
          <p:cNvSpPr/>
          <p:nvPr/>
        </p:nvSpPr>
        <p:spPr>
          <a:xfrm>
            <a:off x="4475988" y="4507992"/>
            <a:ext cx="3236976" cy="365760"/>
          </a:xfrm>
          <a:prstGeom prst="rect">
            <a:avLst/>
          </a:prstGeom>
          <a:noFill/>
          <a:ln/>
        </p:spPr>
        <p:txBody>
          <a:bodyPr wrap="square" lIns="0" tIns="0" rIns="0" bIns="0" rtlCol="0" anchor="ctr"/>
          <a:lstStyle/>
          <a:p>
            <a:pPr marL="0" indent="0" algn="ctr">
              <a:buNone/>
            </a:pPr>
            <a:r>
              <a:rPr lang="es-ES" sz="1800" b="1" noProof="0">
                <a:solidFill>
                  <a:srgbClr val="1A2A33"/>
                </a:solidFill>
                <a:latin typeface="Consolas" pitchFamily="34" charset="0"/>
                <a:ea typeface="Consolas" pitchFamily="34" charset="-122"/>
                <a:cs typeface="Consolas" pitchFamily="34" charset="-120"/>
              </a:rPr>
              <a:t>números por huella</a:t>
            </a:r>
            <a:endParaRPr lang="es-ES" sz="1800" noProof="0"/>
          </a:p>
        </p:txBody>
      </p:sp>
      <p:sp>
        <p:nvSpPr>
          <p:cNvPr id="23" name="Text 21"/>
          <p:cNvSpPr/>
          <p:nvPr/>
        </p:nvSpPr>
        <p:spPr>
          <a:xfrm>
            <a:off x="4475988" y="4892040"/>
            <a:ext cx="3236976" cy="365760"/>
          </a:xfrm>
          <a:prstGeom prst="rect">
            <a:avLst/>
          </a:prstGeom>
          <a:noFill/>
          <a:ln/>
        </p:spPr>
        <p:txBody>
          <a:bodyPr wrap="square" lIns="0" tIns="0" rIns="0" bIns="0" rtlCol="0" anchor="ctr"/>
          <a:lstStyle/>
          <a:p>
            <a:pPr marL="0" indent="0" algn="ctr">
              <a:buNone/>
            </a:pPr>
            <a:r>
              <a:rPr lang="es-ES" sz="1400" noProof="0">
                <a:solidFill>
                  <a:srgbClr val="6B7280"/>
                </a:solidFill>
                <a:latin typeface="Consolas" pitchFamily="34" charset="0"/>
                <a:ea typeface="Consolas" pitchFamily="34" charset="-122"/>
                <a:cs typeface="Consolas" pitchFamily="34" charset="-120"/>
              </a:rPr>
              <a:t>siempre, sea cual sea el texto</a:t>
            </a:r>
            <a:endParaRPr lang="es-ES" sz="1400" noProof="0"/>
          </a:p>
        </p:txBody>
      </p:sp>
      <p:sp>
        <p:nvSpPr>
          <p:cNvPr id="24" name="Shape 22"/>
          <p:cNvSpPr/>
          <p:nvPr/>
        </p:nvSpPr>
        <p:spPr>
          <a:xfrm>
            <a:off x="8037576" y="3246120"/>
            <a:ext cx="3602736"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25" name="Text 23"/>
          <p:cNvSpPr/>
          <p:nvPr/>
        </p:nvSpPr>
        <p:spPr>
          <a:xfrm>
            <a:off x="8037576" y="3538728"/>
            <a:ext cx="3602736" cy="868680"/>
          </a:xfrm>
          <a:prstGeom prst="rect">
            <a:avLst/>
          </a:prstGeom>
          <a:noFill/>
          <a:ln/>
        </p:spPr>
        <p:txBody>
          <a:bodyPr wrap="square" lIns="0" tIns="0" rIns="0" bIns="0" rtlCol="0" anchor="ctr"/>
          <a:lstStyle/>
          <a:p>
            <a:pPr marL="0" indent="0" algn="ctr">
              <a:buNone/>
            </a:pPr>
            <a:r>
              <a:rPr lang="es-ES" sz="4800" b="1" noProof="0">
                <a:solidFill>
                  <a:srgbClr val="4472C4"/>
                </a:solidFill>
                <a:latin typeface="Consolas" pitchFamily="34" charset="0"/>
                <a:ea typeface="Consolas" pitchFamily="34" charset="-122"/>
                <a:cs typeface="Consolas" pitchFamily="34" charset="-120"/>
              </a:rPr>
              <a:t>7 MB</a:t>
            </a:r>
            <a:endParaRPr lang="es-ES" sz="4800" noProof="0" dirty="0"/>
          </a:p>
        </p:txBody>
      </p:sp>
      <p:sp>
        <p:nvSpPr>
          <p:cNvPr id="26" name="Text 24"/>
          <p:cNvSpPr/>
          <p:nvPr/>
        </p:nvSpPr>
        <p:spPr>
          <a:xfrm>
            <a:off x="8220456" y="4507992"/>
            <a:ext cx="3236976" cy="365760"/>
          </a:xfrm>
          <a:prstGeom prst="rect">
            <a:avLst/>
          </a:prstGeom>
          <a:noFill/>
          <a:ln/>
        </p:spPr>
        <p:txBody>
          <a:bodyPr wrap="square" lIns="0" tIns="0" rIns="0" bIns="0" rtlCol="0" anchor="ctr"/>
          <a:lstStyle/>
          <a:p>
            <a:pPr marL="0" indent="0" algn="ctr">
              <a:buNone/>
            </a:pPr>
            <a:r>
              <a:rPr lang="es-ES" sz="1800" b="1" noProof="0">
                <a:solidFill>
                  <a:srgbClr val="1A2A33"/>
                </a:solidFill>
                <a:latin typeface="Consolas" pitchFamily="34" charset="0"/>
                <a:ea typeface="Consolas" pitchFamily="34" charset="-122"/>
                <a:cs typeface="Consolas" pitchFamily="34" charset="-120"/>
              </a:rPr>
              <a:t>de índice</a:t>
            </a:r>
            <a:endParaRPr lang="es-ES" sz="1800" noProof="0"/>
          </a:p>
        </p:txBody>
      </p:sp>
      <p:sp>
        <p:nvSpPr>
          <p:cNvPr id="27" name="Text 25"/>
          <p:cNvSpPr/>
          <p:nvPr/>
        </p:nvSpPr>
        <p:spPr>
          <a:xfrm>
            <a:off x="8220456" y="4892040"/>
            <a:ext cx="3236976" cy="365760"/>
          </a:xfrm>
          <a:prstGeom prst="rect">
            <a:avLst/>
          </a:prstGeom>
          <a:noFill/>
          <a:ln/>
        </p:spPr>
        <p:txBody>
          <a:bodyPr wrap="square" lIns="0" tIns="0" rIns="0" bIns="0" rtlCol="0" anchor="ctr"/>
          <a:lstStyle/>
          <a:p>
            <a:pPr marL="0" indent="0" algn="ctr">
              <a:buNone/>
            </a:pPr>
            <a:r>
              <a:rPr lang="es-ES" sz="1400" noProof="0">
                <a:solidFill>
                  <a:srgbClr val="6B7280"/>
                </a:solidFill>
                <a:latin typeface="Consolas" pitchFamily="34" charset="0"/>
                <a:ea typeface="Consolas" pitchFamily="34" charset="-122"/>
                <a:cs typeface="Consolas" pitchFamily="34" charset="-120"/>
              </a:rPr>
              <a:t>versionado en el repositorio</a:t>
            </a:r>
            <a:endParaRPr lang="es-ES" sz="1400" noProof="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ARQUITECTURA · CONSULTA</a:t>
            </a:r>
            <a:endParaRPr lang="es-ES" sz="2400" noProof="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a:solidFill>
                  <a:srgbClr val="1A2A33"/>
                </a:solidFill>
                <a:latin typeface="Consolas" pitchFamily="34" charset="0"/>
                <a:ea typeface="Consolas" pitchFamily="34" charset="-122"/>
                <a:cs typeface="Consolas" pitchFamily="34" charset="-120"/>
              </a:rPr>
              <a:t>Cómo funciona</a:t>
            </a:r>
            <a:endParaRPr lang="es-ES" sz="2700" noProof="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05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8640" y="1554480"/>
            <a:ext cx="187452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6" name="Text 4"/>
          <p:cNvSpPr/>
          <p:nvPr/>
        </p:nvSpPr>
        <p:spPr>
          <a:xfrm>
            <a:off x="548640" y="1847088"/>
            <a:ext cx="187452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pregunta</a:t>
            </a:r>
            <a:endParaRPr lang="es-ES" sz="1800" noProof="0"/>
          </a:p>
        </p:txBody>
      </p:sp>
      <p:sp>
        <p:nvSpPr>
          <p:cNvPr id="7" name="Shape 5"/>
          <p:cNvSpPr/>
          <p:nvPr/>
        </p:nvSpPr>
        <p:spPr>
          <a:xfrm>
            <a:off x="2441448" y="2034540"/>
            <a:ext cx="274320" cy="0"/>
          </a:xfrm>
          <a:prstGeom prst="line">
            <a:avLst/>
          </a:prstGeom>
          <a:noFill/>
          <a:ln w="25400">
            <a:solidFill>
              <a:srgbClr val="4472C4"/>
            </a:solidFill>
            <a:prstDash val="solid"/>
            <a:tailEnd type="triangle"/>
          </a:ln>
        </p:spPr>
        <p:txBody>
          <a:bodyPr/>
          <a:lstStyle/>
          <a:p>
            <a:endParaRPr lang="es-ES" noProof="0" dirty="0"/>
          </a:p>
        </p:txBody>
      </p:sp>
      <p:sp>
        <p:nvSpPr>
          <p:cNvPr id="8" name="Shape 6"/>
          <p:cNvSpPr/>
          <p:nvPr/>
        </p:nvSpPr>
        <p:spPr>
          <a:xfrm>
            <a:off x="2734056" y="1554480"/>
            <a:ext cx="187452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9" name="Text 7"/>
          <p:cNvSpPr/>
          <p:nvPr/>
        </p:nvSpPr>
        <p:spPr>
          <a:xfrm>
            <a:off x="2734056" y="1847088"/>
            <a:ext cx="187452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huella</a:t>
            </a:r>
            <a:endParaRPr lang="es-ES" sz="1800" noProof="0"/>
          </a:p>
        </p:txBody>
      </p:sp>
      <p:sp>
        <p:nvSpPr>
          <p:cNvPr id="10" name="Shape 8"/>
          <p:cNvSpPr/>
          <p:nvPr/>
        </p:nvSpPr>
        <p:spPr>
          <a:xfrm>
            <a:off x="4626864" y="2034540"/>
            <a:ext cx="274320" cy="0"/>
          </a:xfrm>
          <a:prstGeom prst="line">
            <a:avLst/>
          </a:prstGeom>
          <a:noFill/>
          <a:ln w="25400">
            <a:solidFill>
              <a:srgbClr val="4472C4"/>
            </a:solidFill>
            <a:prstDash val="solid"/>
            <a:tailEnd type="triangle"/>
          </a:ln>
        </p:spPr>
        <p:txBody>
          <a:bodyPr/>
          <a:lstStyle/>
          <a:p>
            <a:endParaRPr lang="es-ES" noProof="0" dirty="0"/>
          </a:p>
        </p:txBody>
      </p:sp>
      <p:sp>
        <p:nvSpPr>
          <p:cNvPr id="11" name="Shape 9"/>
          <p:cNvSpPr/>
          <p:nvPr/>
        </p:nvSpPr>
        <p:spPr>
          <a:xfrm>
            <a:off x="4919472" y="1554480"/>
            <a:ext cx="187452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12" name="Text 10"/>
          <p:cNvSpPr/>
          <p:nvPr/>
        </p:nvSpPr>
        <p:spPr>
          <a:xfrm>
            <a:off x="4919472" y="1847088"/>
            <a:ext cx="187452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5 vecinos</a:t>
            </a:r>
            <a:endParaRPr lang="es-ES" sz="1800" noProof="0"/>
          </a:p>
        </p:txBody>
      </p:sp>
      <p:sp>
        <p:nvSpPr>
          <p:cNvPr id="13" name="Shape 11"/>
          <p:cNvSpPr/>
          <p:nvPr/>
        </p:nvSpPr>
        <p:spPr>
          <a:xfrm>
            <a:off x="6812280" y="2034540"/>
            <a:ext cx="274320" cy="0"/>
          </a:xfrm>
          <a:prstGeom prst="line">
            <a:avLst/>
          </a:prstGeom>
          <a:noFill/>
          <a:ln w="25400">
            <a:solidFill>
              <a:srgbClr val="4472C4"/>
            </a:solidFill>
            <a:prstDash val="solid"/>
            <a:tailEnd type="triangle"/>
          </a:ln>
        </p:spPr>
        <p:txBody>
          <a:bodyPr/>
          <a:lstStyle/>
          <a:p>
            <a:endParaRPr lang="es-ES" noProof="0" dirty="0"/>
          </a:p>
        </p:txBody>
      </p:sp>
      <p:sp>
        <p:nvSpPr>
          <p:cNvPr id="14" name="Shape 12"/>
          <p:cNvSpPr/>
          <p:nvPr/>
        </p:nvSpPr>
        <p:spPr>
          <a:xfrm>
            <a:off x="7178040" y="1234440"/>
            <a:ext cx="2286000" cy="1600200"/>
          </a:xfrm>
          <a:prstGeom prst="diamond">
            <a:avLst/>
          </a:prstGeom>
          <a:solidFill>
            <a:srgbClr val="DEEBF7"/>
          </a:solidFill>
          <a:ln w="19050">
            <a:solidFill>
              <a:srgbClr val="4472C4"/>
            </a:solidFill>
            <a:prstDash val="solid"/>
          </a:ln>
        </p:spPr>
        <p:txBody>
          <a:bodyPr/>
          <a:lstStyle/>
          <a:p>
            <a:endParaRPr lang="es-ES" noProof="0" dirty="0"/>
          </a:p>
        </p:txBody>
      </p:sp>
      <p:sp>
        <p:nvSpPr>
          <p:cNvPr id="15" name="Text 13"/>
          <p:cNvSpPr/>
          <p:nvPr/>
        </p:nvSpPr>
        <p:spPr>
          <a:xfrm>
            <a:off x="7452360" y="1709928"/>
            <a:ext cx="1737360" cy="685800"/>
          </a:xfrm>
          <a:prstGeom prst="rect">
            <a:avLst/>
          </a:prstGeom>
          <a:noFill/>
          <a:ln/>
        </p:spPr>
        <p:txBody>
          <a:bodyPr wrap="square" lIns="0" tIns="0" rIns="0" bIns="0" rtlCol="0" anchor="ctr"/>
          <a:lstStyle/>
          <a:p>
            <a:pPr marL="0" indent="0" algn="ctr">
              <a:lnSpc>
                <a:spcPct val="105000"/>
              </a:lnSpc>
              <a:buNone/>
            </a:pPr>
            <a:r>
              <a:rPr lang="es-ES" sz="1600" b="1" noProof="0">
                <a:solidFill>
                  <a:srgbClr val="1A2A33"/>
                </a:solidFill>
                <a:latin typeface="Consolas" pitchFamily="34" charset="0"/>
                <a:ea typeface="Consolas" pitchFamily="34" charset="-122"/>
                <a:cs typeface="Consolas" pitchFamily="34" charset="-120"/>
              </a:rPr>
              <a:t>distancia</a:t>
            </a:r>
            <a:endParaRPr lang="es-ES" sz="1600" noProof="0"/>
          </a:p>
          <a:p>
            <a:pPr marL="0" indent="0" algn="ctr">
              <a:lnSpc>
                <a:spcPct val="105000"/>
              </a:lnSpc>
              <a:buNone/>
            </a:pPr>
            <a:r>
              <a:rPr lang="es-ES" sz="1600" b="1" noProof="0">
                <a:solidFill>
                  <a:srgbClr val="1A2A33"/>
                </a:solidFill>
                <a:latin typeface="Consolas" pitchFamily="34" charset="0"/>
                <a:ea typeface="Consolas" pitchFamily="34" charset="-122"/>
                <a:cs typeface="Consolas" pitchFamily="34" charset="-120"/>
              </a:rPr>
              <a:t>&lt; 0,75 ?</a:t>
            </a:r>
            <a:endParaRPr lang="es-ES" sz="1600" noProof="0"/>
          </a:p>
        </p:txBody>
      </p:sp>
      <p:sp>
        <p:nvSpPr>
          <p:cNvPr id="16" name="Shape 14"/>
          <p:cNvSpPr/>
          <p:nvPr/>
        </p:nvSpPr>
        <p:spPr>
          <a:xfrm>
            <a:off x="9491472" y="2034540"/>
            <a:ext cx="292608" cy="0"/>
          </a:xfrm>
          <a:prstGeom prst="line">
            <a:avLst/>
          </a:prstGeom>
          <a:noFill/>
          <a:ln w="25400">
            <a:solidFill>
              <a:srgbClr val="4472C4"/>
            </a:solidFill>
            <a:prstDash val="solid"/>
            <a:tailEnd type="triangle"/>
          </a:ln>
        </p:spPr>
        <p:txBody>
          <a:bodyPr/>
          <a:lstStyle/>
          <a:p>
            <a:endParaRPr lang="es-ES" noProof="0" dirty="0"/>
          </a:p>
        </p:txBody>
      </p:sp>
      <p:sp>
        <p:nvSpPr>
          <p:cNvPr id="17" name="Text 15"/>
          <p:cNvSpPr/>
          <p:nvPr/>
        </p:nvSpPr>
        <p:spPr>
          <a:xfrm>
            <a:off x="9445752" y="1650492"/>
            <a:ext cx="457200" cy="237744"/>
          </a:xfrm>
          <a:prstGeom prst="rect">
            <a:avLst/>
          </a:prstGeom>
          <a:noFill/>
          <a:ln/>
        </p:spPr>
        <p:txBody>
          <a:bodyPr wrap="square" lIns="0" tIns="0" rIns="0" bIns="0" rtlCol="0" anchor="ctr"/>
          <a:lstStyle/>
          <a:p>
            <a:pPr marL="0" indent="0" algn="ctr">
              <a:buNone/>
            </a:pPr>
            <a:r>
              <a:rPr lang="es-ES" sz="1400" b="1" noProof="0">
                <a:solidFill>
                  <a:srgbClr val="C2410C"/>
                </a:solidFill>
                <a:latin typeface="Consolas" pitchFamily="34" charset="0"/>
                <a:ea typeface="Consolas" pitchFamily="34" charset="-122"/>
                <a:cs typeface="Consolas" pitchFamily="34" charset="-120"/>
              </a:rPr>
              <a:t>no</a:t>
            </a:r>
            <a:endParaRPr lang="es-ES" sz="1400" noProof="0"/>
          </a:p>
        </p:txBody>
      </p:sp>
      <p:sp>
        <p:nvSpPr>
          <p:cNvPr id="18" name="Shape 16"/>
          <p:cNvSpPr/>
          <p:nvPr/>
        </p:nvSpPr>
        <p:spPr>
          <a:xfrm>
            <a:off x="9921240" y="1600200"/>
            <a:ext cx="1719072" cy="868680"/>
          </a:xfrm>
          <a:prstGeom prst="roundRect">
            <a:avLst>
              <a:gd name="adj" fmla="val 6316"/>
            </a:avLst>
          </a:prstGeom>
          <a:solidFill>
            <a:srgbClr val="FBEEE6"/>
          </a:solidFill>
          <a:ln w="9525">
            <a:solidFill>
              <a:srgbClr val="CFD8DC"/>
            </a:solidFill>
            <a:prstDash val="solid"/>
          </a:ln>
        </p:spPr>
        <p:txBody>
          <a:bodyPr/>
          <a:lstStyle/>
          <a:p>
            <a:endParaRPr lang="es-ES" noProof="0" dirty="0"/>
          </a:p>
        </p:txBody>
      </p:sp>
      <p:sp>
        <p:nvSpPr>
          <p:cNvPr id="19" name="Text 17"/>
          <p:cNvSpPr/>
          <p:nvPr/>
        </p:nvSpPr>
        <p:spPr>
          <a:xfrm>
            <a:off x="9921240" y="1856232"/>
            <a:ext cx="1719072" cy="347472"/>
          </a:xfrm>
          <a:prstGeom prst="rect">
            <a:avLst/>
          </a:prstGeom>
          <a:noFill/>
          <a:ln/>
        </p:spPr>
        <p:txBody>
          <a:bodyPr wrap="square" lIns="0" tIns="0" rIns="0" bIns="0" rtlCol="0" anchor="ctr"/>
          <a:lstStyle/>
          <a:p>
            <a:pPr marL="0" indent="0" algn="ctr">
              <a:buNone/>
            </a:pPr>
            <a:r>
              <a:rPr lang="es-ES" sz="1600" b="1" noProof="0">
                <a:solidFill>
                  <a:srgbClr val="C2410C"/>
                </a:solidFill>
                <a:latin typeface="Consolas" pitchFamily="34" charset="0"/>
                <a:ea typeface="Consolas" pitchFamily="34" charset="-122"/>
                <a:cs typeface="Consolas" pitchFamily="34" charset="-120"/>
              </a:rPr>
              <a:t>«no lo sé»</a:t>
            </a:r>
            <a:endParaRPr lang="es-ES" sz="1600" noProof="0"/>
          </a:p>
        </p:txBody>
      </p:sp>
      <p:sp>
        <p:nvSpPr>
          <p:cNvPr id="20" name="Shape 18"/>
          <p:cNvSpPr/>
          <p:nvPr/>
        </p:nvSpPr>
        <p:spPr>
          <a:xfrm>
            <a:off x="8321040" y="2852928"/>
            <a:ext cx="0" cy="502920"/>
          </a:xfrm>
          <a:prstGeom prst="line">
            <a:avLst/>
          </a:prstGeom>
          <a:noFill/>
          <a:ln w="25400">
            <a:solidFill>
              <a:srgbClr val="4472C4"/>
            </a:solidFill>
            <a:prstDash val="solid"/>
            <a:tailEnd type="triangle"/>
          </a:ln>
        </p:spPr>
        <p:txBody>
          <a:bodyPr/>
          <a:lstStyle/>
          <a:p>
            <a:endParaRPr lang="es-ES" noProof="0" dirty="0"/>
          </a:p>
        </p:txBody>
      </p:sp>
      <p:sp>
        <p:nvSpPr>
          <p:cNvPr id="21" name="Text 19"/>
          <p:cNvSpPr/>
          <p:nvPr/>
        </p:nvSpPr>
        <p:spPr>
          <a:xfrm>
            <a:off x="8430768" y="2926080"/>
            <a:ext cx="457200" cy="237744"/>
          </a:xfrm>
          <a:prstGeom prst="rect">
            <a:avLst/>
          </a:prstGeom>
          <a:noFill/>
          <a:ln/>
        </p:spPr>
        <p:txBody>
          <a:bodyPr wrap="square" lIns="0" tIns="0" rIns="0" bIns="0" rtlCol="0" anchor="ctr"/>
          <a:lstStyle/>
          <a:p>
            <a:pPr marL="0" indent="0">
              <a:buNone/>
            </a:pPr>
            <a:r>
              <a:rPr lang="es-ES" sz="1400" b="1" noProof="0">
                <a:solidFill>
                  <a:srgbClr val="4472C4"/>
                </a:solidFill>
                <a:latin typeface="Consolas" pitchFamily="34" charset="0"/>
                <a:ea typeface="Consolas" pitchFamily="34" charset="-122"/>
                <a:cs typeface="Consolas" pitchFamily="34" charset="-120"/>
              </a:rPr>
              <a:t>sí</a:t>
            </a:r>
            <a:endParaRPr lang="es-ES" sz="1400" noProof="0"/>
          </a:p>
        </p:txBody>
      </p:sp>
      <p:sp>
        <p:nvSpPr>
          <p:cNvPr id="22" name="Shape 20"/>
          <p:cNvSpPr/>
          <p:nvPr/>
        </p:nvSpPr>
        <p:spPr>
          <a:xfrm>
            <a:off x="7178040" y="3429000"/>
            <a:ext cx="228600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23" name="Text 21"/>
          <p:cNvSpPr/>
          <p:nvPr/>
        </p:nvSpPr>
        <p:spPr>
          <a:xfrm>
            <a:off x="7178040" y="3721608"/>
            <a:ext cx="228600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modelo de lenguaje</a:t>
            </a:r>
            <a:endParaRPr lang="es-ES" sz="1800" noProof="0" dirty="0"/>
          </a:p>
        </p:txBody>
      </p:sp>
      <p:sp>
        <p:nvSpPr>
          <p:cNvPr id="24" name="Shape 22"/>
          <p:cNvSpPr/>
          <p:nvPr/>
        </p:nvSpPr>
        <p:spPr>
          <a:xfrm>
            <a:off x="3840480" y="3429000"/>
            <a:ext cx="278892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25" name="Text 23"/>
          <p:cNvSpPr/>
          <p:nvPr/>
        </p:nvSpPr>
        <p:spPr>
          <a:xfrm>
            <a:off x="3840480" y="3721608"/>
            <a:ext cx="278892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respuesta + citas</a:t>
            </a:r>
            <a:endParaRPr lang="es-ES" sz="1800" noProof="0"/>
          </a:p>
        </p:txBody>
      </p:sp>
      <p:sp>
        <p:nvSpPr>
          <p:cNvPr id="26" name="Shape 24"/>
          <p:cNvSpPr/>
          <p:nvPr/>
        </p:nvSpPr>
        <p:spPr>
          <a:xfrm>
            <a:off x="548640" y="3429000"/>
            <a:ext cx="2743200" cy="960120"/>
          </a:xfrm>
          <a:prstGeom prst="roundRect">
            <a:avLst>
              <a:gd name="adj" fmla="val 5714"/>
            </a:avLst>
          </a:prstGeom>
          <a:solidFill>
            <a:srgbClr val="DEEBF7"/>
          </a:solidFill>
          <a:ln w="9525">
            <a:solidFill>
              <a:srgbClr val="CFD8DC"/>
            </a:solidFill>
            <a:prstDash val="solid"/>
          </a:ln>
        </p:spPr>
        <p:txBody>
          <a:bodyPr/>
          <a:lstStyle/>
          <a:p>
            <a:endParaRPr lang="es-ES" noProof="0" dirty="0"/>
          </a:p>
        </p:txBody>
      </p:sp>
      <p:sp>
        <p:nvSpPr>
          <p:cNvPr id="27" name="Text 25"/>
          <p:cNvSpPr/>
          <p:nvPr/>
        </p:nvSpPr>
        <p:spPr>
          <a:xfrm>
            <a:off x="548640" y="3721608"/>
            <a:ext cx="2743200" cy="384048"/>
          </a:xfrm>
          <a:prstGeom prst="rect">
            <a:avLst/>
          </a:prstGeom>
          <a:noFill/>
          <a:ln/>
        </p:spPr>
        <p:txBody>
          <a:bodyPr wrap="square" lIns="0" tIns="0" rIns="0" bIns="0" rtlCol="0" anchor="ctr"/>
          <a:lstStyle/>
          <a:p>
            <a:pPr marL="0" indent="0" algn="ctr">
              <a:buNone/>
            </a:pPr>
            <a:r>
              <a:rPr lang="es-ES" sz="1800" b="1" noProof="0">
                <a:solidFill>
                  <a:srgbClr val="4472C4"/>
                </a:solidFill>
                <a:latin typeface="Consolas" pitchFamily="34" charset="0"/>
                <a:ea typeface="Consolas" pitchFamily="34" charset="-122"/>
                <a:cs typeface="Consolas" pitchFamily="34" charset="-120"/>
              </a:rPr>
              <a:t>registro</a:t>
            </a:r>
            <a:endParaRPr lang="es-ES" sz="1800" noProof="0"/>
          </a:p>
        </p:txBody>
      </p:sp>
      <p:sp>
        <p:nvSpPr>
          <p:cNvPr id="28" name="Shape 26"/>
          <p:cNvSpPr/>
          <p:nvPr/>
        </p:nvSpPr>
        <p:spPr>
          <a:xfrm>
            <a:off x="6693408" y="3909060"/>
            <a:ext cx="420624" cy="0"/>
          </a:xfrm>
          <a:prstGeom prst="line">
            <a:avLst/>
          </a:prstGeom>
          <a:noFill/>
          <a:ln w="25400">
            <a:solidFill>
              <a:srgbClr val="4472C4"/>
            </a:solidFill>
            <a:prstDash val="solid"/>
            <a:headEnd type="triangle"/>
          </a:ln>
        </p:spPr>
        <p:txBody>
          <a:bodyPr/>
          <a:lstStyle/>
          <a:p>
            <a:endParaRPr lang="es-ES" noProof="0" dirty="0"/>
          </a:p>
        </p:txBody>
      </p:sp>
      <p:sp>
        <p:nvSpPr>
          <p:cNvPr id="29" name="Shape 27"/>
          <p:cNvSpPr/>
          <p:nvPr/>
        </p:nvSpPr>
        <p:spPr>
          <a:xfrm>
            <a:off x="3355848" y="3909060"/>
            <a:ext cx="420624" cy="0"/>
          </a:xfrm>
          <a:prstGeom prst="line">
            <a:avLst/>
          </a:prstGeom>
          <a:noFill/>
          <a:ln w="25400">
            <a:solidFill>
              <a:srgbClr val="4472C4"/>
            </a:solidFill>
            <a:prstDash val="solid"/>
            <a:headEnd type="triangle"/>
          </a:ln>
        </p:spPr>
        <p:txBody>
          <a:bodyPr/>
          <a:lstStyle/>
          <a:p>
            <a:endParaRPr lang="es-ES" noProof="0" dirty="0"/>
          </a:p>
        </p:txBody>
      </p:sp>
      <p:sp>
        <p:nvSpPr>
          <p:cNvPr id="30" name="Text 28"/>
          <p:cNvSpPr/>
          <p:nvPr/>
        </p:nvSpPr>
        <p:spPr>
          <a:xfrm>
            <a:off x="548640" y="4892040"/>
            <a:ext cx="11091672" cy="310896"/>
          </a:xfrm>
          <a:prstGeom prst="rect">
            <a:avLst/>
          </a:prstGeom>
          <a:noFill/>
          <a:ln/>
        </p:spPr>
        <p:txBody>
          <a:bodyPr wrap="square" lIns="0" tIns="0" rIns="0" bIns="0" rtlCol="0" anchor="ctr"/>
          <a:lstStyle/>
          <a:p>
            <a:pPr marL="0" indent="0" algn="ctr">
              <a:buNone/>
            </a:pPr>
            <a:r>
              <a:rPr lang="es-ES" sz="1400" i="1" noProof="0">
                <a:solidFill>
                  <a:srgbClr val="6B7280"/>
                </a:solidFill>
                <a:latin typeface="Consolas" pitchFamily="34" charset="0"/>
                <a:ea typeface="Consolas" pitchFamily="34" charset="-122"/>
                <a:cs typeface="Consolas" pitchFamily="34" charset="-120"/>
              </a:rPr>
              <a:t>pregunta · fragmentos · distancias · prompt · respuesta · fuentes · parámetros · hora</a:t>
            </a:r>
            <a:endParaRPr lang="es-ES" sz="1400" noProof="0"/>
          </a:p>
        </p:txBody>
      </p:sp>
      <p:sp>
        <p:nvSpPr>
          <p:cNvPr id="31" name="Text 29"/>
          <p:cNvSpPr/>
          <p:nvPr/>
        </p:nvSpPr>
        <p:spPr>
          <a:xfrm>
            <a:off x="548640" y="5486400"/>
            <a:ext cx="11091672" cy="548640"/>
          </a:xfrm>
          <a:prstGeom prst="rect">
            <a:avLst/>
          </a:prstGeom>
          <a:noFill/>
          <a:ln/>
        </p:spPr>
        <p:txBody>
          <a:bodyPr wrap="square" lIns="0" tIns="0" rIns="0" bIns="0" rtlCol="0" anchor="ctr"/>
          <a:lstStyle/>
          <a:p>
            <a:pPr marL="0" indent="0" algn="ctr">
              <a:buNone/>
            </a:pPr>
            <a:r>
              <a:rPr lang="es-ES" sz="3000" b="1" noProof="0" dirty="0">
                <a:solidFill>
                  <a:srgbClr val="4472C4"/>
                </a:solidFill>
                <a:latin typeface="Consolas" pitchFamily="34" charset="0"/>
                <a:ea typeface="Consolas" pitchFamily="34" charset="-122"/>
                <a:cs typeface="Consolas" pitchFamily="34" charset="-120"/>
              </a:rPr>
              <a:t>5</a:t>
            </a:r>
            <a:r>
              <a:rPr lang="es-ES" sz="1600" noProof="0" dirty="0">
                <a:solidFill>
                  <a:srgbClr val="6B7280"/>
                </a:solidFill>
                <a:latin typeface="Consolas" pitchFamily="34" charset="0"/>
                <a:ea typeface="Consolas" pitchFamily="34" charset="-122"/>
                <a:cs typeface="Consolas" pitchFamily="34" charset="-120"/>
              </a:rPr>
              <a:t> vecinos   ·   </a:t>
            </a:r>
            <a:r>
              <a:rPr lang="es-ES" sz="3000" b="1" noProof="0">
                <a:solidFill>
                  <a:srgbClr val="4472C4"/>
                </a:solidFill>
                <a:latin typeface="Consolas" pitchFamily="34" charset="0"/>
                <a:ea typeface="Consolas" pitchFamily="34" charset="-122"/>
                <a:cs typeface="Consolas" pitchFamily="34" charset="-120"/>
              </a:rPr>
              <a:t>0,75</a:t>
            </a:r>
            <a:r>
              <a:rPr lang="es-ES" sz="1600" noProof="0" dirty="0">
                <a:solidFill>
                  <a:srgbClr val="6B7280"/>
                </a:solidFill>
                <a:latin typeface="Consolas" pitchFamily="34" charset="0"/>
                <a:ea typeface="Consolas" pitchFamily="34" charset="-122"/>
                <a:cs typeface="Consolas" pitchFamily="34" charset="-120"/>
              </a:rPr>
              <a:t> umbral</a:t>
            </a:r>
            <a:endParaRPr lang="es-ES" sz="30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BASE TÉCNICA</a:t>
            </a:r>
            <a:endParaRPr lang="es-ES" sz="2400" noProof="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a:solidFill>
                  <a:srgbClr val="1A2A33"/>
                </a:solidFill>
                <a:latin typeface="Consolas" pitchFamily="34" charset="0"/>
                <a:ea typeface="Consolas" pitchFamily="34" charset="-122"/>
                <a:cs typeface="Consolas" pitchFamily="34" charset="-120"/>
              </a:rPr>
              <a:t>Tecnologías</a:t>
            </a:r>
            <a:endParaRPr lang="es-ES" sz="2700" noProof="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06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8640" y="1371600"/>
            <a:ext cx="11091672" cy="841248"/>
          </a:xfrm>
          <a:prstGeom prst="roundRect">
            <a:avLst>
              <a:gd name="adj" fmla="val 6522"/>
            </a:avLst>
          </a:prstGeom>
          <a:solidFill>
            <a:srgbClr val="DEEBF7"/>
          </a:solidFill>
          <a:ln w="9525">
            <a:solidFill>
              <a:srgbClr val="CFD8DC"/>
            </a:solidFill>
            <a:prstDash val="solid"/>
          </a:ln>
        </p:spPr>
        <p:txBody>
          <a:bodyPr/>
          <a:lstStyle/>
          <a:p>
            <a:endParaRPr lang="es-ES" noProof="0" dirty="0"/>
          </a:p>
        </p:txBody>
      </p:sp>
      <p:sp>
        <p:nvSpPr>
          <p:cNvPr id="6" name="Text 4"/>
          <p:cNvSpPr/>
          <p:nvPr/>
        </p:nvSpPr>
        <p:spPr>
          <a:xfrm>
            <a:off x="822960" y="1673352"/>
            <a:ext cx="3017520" cy="274320"/>
          </a:xfrm>
          <a:prstGeom prst="rect">
            <a:avLst/>
          </a:prstGeom>
          <a:noFill/>
          <a:ln/>
        </p:spPr>
        <p:txBody>
          <a:bodyPr wrap="square" lIns="0" tIns="0" rIns="0" bIns="0" rtlCol="0" anchor="ctr"/>
          <a:lstStyle/>
          <a:p>
            <a:pPr marL="0" indent="0">
              <a:buNone/>
            </a:pPr>
            <a:r>
              <a:rPr lang="es-ES" sz="1400" b="1" kern="0" spc="120" noProof="0">
                <a:solidFill>
                  <a:srgbClr val="6B7280"/>
                </a:solidFill>
                <a:latin typeface="Consolas" pitchFamily="34" charset="0"/>
                <a:ea typeface="Consolas" pitchFamily="34" charset="-122"/>
                <a:cs typeface="Consolas" pitchFamily="34" charset="-120"/>
              </a:rPr>
              <a:t>LENGUAJE Y ENTORNO</a:t>
            </a:r>
            <a:endParaRPr lang="es-ES" sz="1400" noProof="0"/>
          </a:p>
        </p:txBody>
      </p:sp>
      <p:sp>
        <p:nvSpPr>
          <p:cNvPr id="7" name="Text 5"/>
          <p:cNvSpPr/>
          <p:nvPr/>
        </p:nvSpPr>
        <p:spPr>
          <a:xfrm>
            <a:off x="3931920" y="1572768"/>
            <a:ext cx="7406640" cy="475488"/>
          </a:xfrm>
          <a:prstGeom prst="rect">
            <a:avLst/>
          </a:prstGeom>
          <a:noFill/>
          <a:ln/>
        </p:spPr>
        <p:txBody>
          <a:bodyPr wrap="square" lIns="0" tIns="0" rIns="0" bIns="0" rtlCol="0" anchor="ctr"/>
          <a:lstStyle/>
          <a:p>
            <a:pPr marL="0" indent="0" algn="ctr">
              <a:buNone/>
            </a:pPr>
            <a:r>
              <a:rPr lang="es-ES" sz="2100" b="1" noProof="0" dirty="0">
                <a:solidFill>
                  <a:srgbClr val="1A2A33"/>
                </a:solidFill>
                <a:latin typeface="Consolas" pitchFamily="34" charset="0"/>
                <a:ea typeface="Consolas" pitchFamily="34" charset="-122"/>
                <a:cs typeface="Consolas" pitchFamily="34" charset="-120"/>
              </a:rPr>
              <a:t>Python 3.12 + uv</a:t>
            </a:r>
            <a:endParaRPr lang="es-ES" sz="2100" noProof="0" dirty="0"/>
          </a:p>
        </p:txBody>
      </p:sp>
      <p:sp>
        <p:nvSpPr>
          <p:cNvPr id="8" name="Shape 6"/>
          <p:cNvSpPr/>
          <p:nvPr/>
        </p:nvSpPr>
        <p:spPr>
          <a:xfrm>
            <a:off x="548640" y="2340864"/>
            <a:ext cx="11091672" cy="841248"/>
          </a:xfrm>
          <a:prstGeom prst="roundRect">
            <a:avLst>
              <a:gd name="adj" fmla="val 6522"/>
            </a:avLst>
          </a:prstGeom>
          <a:solidFill>
            <a:srgbClr val="DEEBF7"/>
          </a:solidFill>
          <a:ln w="9525">
            <a:solidFill>
              <a:srgbClr val="CFD8DC"/>
            </a:solidFill>
            <a:prstDash val="solid"/>
          </a:ln>
        </p:spPr>
        <p:txBody>
          <a:bodyPr/>
          <a:lstStyle/>
          <a:p>
            <a:endParaRPr lang="es-ES" noProof="0" dirty="0"/>
          </a:p>
        </p:txBody>
      </p:sp>
      <p:sp>
        <p:nvSpPr>
          <p:cNvPr id="9" name="Text 7"/>
          <p:cNvSpPr/>
          <p:nvPr/>
        </p:nvSpPr>
        <p:spPr>
          <a:xfrm>
            <a:off x="822960" y="2642616"/>
            <a:ext cx="3017520" cy="274320"/>
          </a:xfrm>
          <a:prstGeom prst="rect">
            <a:avLst/>
          </a:prstGeom>
          <a:noFill/>
          <a:ln/>
        </p:spPr>
        <p:txBody>
          <a:bodyPr wrap="square" lIns="0" tIns="0" rIns="0" bIns="0" rtlCol="0" anchor="ctr"/>
          <a:lstStyle/>
          <a:p>
            <a:pPr marL="0" indent="0">
              <a:buNone/>
            </a:pPr>
            <a:r>
              <a:rPr lang="es-ES" sz="1400" b="1" kern="0" spc="120" noProof="0">
                <a:solidFill>
                  <a:srgbClr val="6B7280"/>
                </a:solidFill>
                <a:latin typeface="Consolas" pitchFamily="34" charset="0"/>
                <a:ea typeface="Consolas" pitchFamily="34" charset="-122"/>
                <a:cs typeface="Consolas" pitchFamily="34" charset="-120"/>
              </a:rPr>
              <a:t>HUELLAS Y BÚSQUEDA</a:t>
            </a:r>
            <a:endParaRPr lang="es-ES" sz="1400" noProof="0"/>
          </a:p>
        </p:txBody>
      </p:sp>
      <p:sp>
        <p:nvSpPr>
          <p:cNvPr id="10" name="Text 8"/>
          <p:cNvSpPr/>
          <p:nvPr/>
        </p:nvSpPr>
        <p:spPr>
          <a:xfrm>
            <a:off x="3931920" y="2542032"/>
            <a:ext cx="7406640" cy="475488"/>
          </a:xfrm>
          <a:prstGeom prst="rect">
            <a:avLst/>
          </a:prstGeom>
          <a:noFill/>
          <a:ln/>
        </p:spPr>
        <p:txBody>
          <a:bodyPr wrap="square" lIns="0" tIns="0" rIns="0" bIns="0" rtlCol="0" anchor="ctr"/>
          <a:lstStyle/>
          <a:p>
            <a:pPr marL="0" indent="0" algn="ctr">
              <a:buNone/>
            </a:pPr>
            <a:r>
              <a:rPr lang="es-ES" sz="2100" b="1" noProof="0" dirty="0" err="1">
                <a:solidFill>
                  <a:srgbClr val="1A2A33"/>
                </a:solidFill>
                <a:latin typeface="Consolas" pitchFamily="34" charset="0"/>
                <a:ea typeface="Consolas" pitchFamily="34" charset="-122"/>
                <a:cs typeface="Consolas" pitchFamily="34" charset="-120"/>
              </a:rPr>
              <a:t>sentence-transformers</a:t>
            </a:r>
            <a:r>
              <a:rPr lang="es-ES" sz="2100" b="1" noProof="0" dirty="0">
                <a:solidFill>
                  <a:srgbClr val="1A2A33"/>
                </a:solidFill>
                <a:latin typeface="Consolas" pitchFamily="34" charset="0"/>
                <a:ea typeface="Consolas" pitchFamily="34" charset="-122"/>
                <a:cs typeface="Consolas" pitchFamily="34" charset="-120"/>
              </a:rPr>
              <a:t> + </a:t>
            </a:r>
            <a:r>
              <a:rPr lang="es-ES" sz="2100" b="1" noProof="0" dirty="0" err="1">
                <a:solidFill>
                  <a:srgbClr val="1A2A33"/>
                </a:solidFill>
                <a:latin typeface="Consolas" pitchFamily="34" charset="0"/>
                <a:ea typeface="Consolas" pitchFamily="34" charset="-122"/>
                <a:cs typeface="Consolas" pitchFamily="34" charset="-120"/>
              </a:rPr>
              <a:t>ChromaDB</a:t>
            </a:r>
            <a:endParaRPr lang="es-ES" sz="2100" noProof="0" dirty="0"/>
          </a:p>
        </p:txBody>
      </p:sp>
      <p:sp>
        <p:nvSpPr>
          <p:cNvPr id="11" name="Shape 9"/>
          <p:cNvSpPr/>
          <p:nvPr/>
        </p:nvSpPr>
        <p:spPr>
          <a:xfrm>
            <a:off x="548640" y="3310128"/>
            <a:ext cx="11091672" cy="841248"/>
          </a:xfrm>
          <a:prstGeom prst="roundRect">
            <a:avLst>
              <a:gd name="adj" fmla="val 6522"/>
            </a:avLst>
          </a:prstGeom>
          <a:solidFill>
            <a:srgbClr val="DEEBF7"/>
          </a:solidFill>
          <a:ln w="9525">
            <a:solidFill>
              <a:srgbClr val="CFD8DC"/>
            </a:solidFill>
            <a:prstDash val="solid"/>
          </a:ln>
        </p:spPr>
        <p:txBody>
          <a:bodyPr/>
          <a:lstStyle/>
          <a:p>
            <a:endParaRPr lang="es-ES" noProof="0" dirty="0"/>
          </a:p>
        </p:txBody>
      </p:sp>
      <p:sp>
        <p:nvSpPr>
          <p:cNvPr id="12" name="Text 10"/>
          <p:cNvSpPr/>
          <p:nvPr/>
        </p:nvSpPr>
        <p:spPr>
          <a:xfrm>
            <a:off x="822960" y="3611880"/>
            <a:ext cx="3017520" cy="274320"/>
          </a:xfrm>
          <a:prstGeom prst="rect">
            <a:avLst/>
          </a:prstGeom>
          <a:noFill/>
          <a:ln/>
        </p:spPr>
        <p:txBody>
          <a:bodyPr wrap="square" lIns="0" tIns="0" rIns="0" bIns="0" rtlCol="0" anchor="ctr"/>
          <a:lstStyle/>
          <a:p>
            <a:pPr marL="0" indent="0">
              <a:buNone/>
            </a:pPr>
            <a:r>
              <a:rPr lang="es-ES" sz="1400" b="1" kern="0" spc="120" noProof="0">
                <a:solidFill>
                  <a:srgbClr val="6B7280"/>
                </a:solidFill>
                <a:latin typeface="Consolas" pitchFamily="34" charset="0"/>
                <a:ea typeface="Consolas" pitchFamily="34" charset="-122"/>
                <a:cs typeface="Consolas" pitchFamily="34" charset="-120"/>
              </a:rPr>
              <a:t>MODELOS DE LENGUAJE</a:t>
            </a:r>
            <a:endParaRPr lang="es-ES" sz="1400" noProof="0" dirty="0"/>
          </a:p>
        </p:txBody>
      </p:sp>
      <p:sp>
        <p:nvSpPr>
          <p:cNvPr id="13" name="Text 11"/>
          <p:cNvSpPr/>
          <p:nvPr/>
        </p:nvSpPr>
        <p:spPr>
          <a:xfrm>
            <a:off x="3931920" y="3511296"/>
            <a:ext cx="7406640" cy="475488"/>
          </a:xfrm>
          <a:prstGeom prst="rect">
            <a:avLst/>
          </a:prstGeom>
          <a:noFill/>
          <a:ln/>
        </p:spPr>
        <p:txBody>
          <a:bodyPr wrap="square" lIns="0" tIns="0" rIns="0" bIns="0" rtlCol="0" anchor="ctr"/>
          <a:lstStyle/>
          <a:p>
            <a:pPr marL="0" indent="0" algn="ctr">
              <a:buNone/>
            </a:pPr>
            <a:r>
              <a:rPr lang="es-ES" sz="2100" b="1" noProof="0" dirty="0">
                <a:solidFill>
                  <a:srgbClr val="1A2A33"/>
                </a:solidFill>
                <a:latin typeface="Consolas" pitchFamily="34" charset="0"/>
                <a:ea typeface="Consolas" pitchFamily="34" charset="-122"/>
                <a:cs typeface="Consolas" pitchFamily="34" charset="-120"/>
              </a:rPr>
              <a:t>Groq / Ollama</a:t>
            </a:r>
            <a:endParaRPr lang="es-ES" sz="2100" noProof="0" dirty="0"/>
          </a:p>
        </p:txBody>
      </p:sp>
      <p:sp>
        <p:nvSpPr>
          <p:cNvPr id="14" name="Shape 12"/>
          <p:cNvSpPr/>
          <p:nvPr/>
        </p:nvSpPr>
        <p:spPr>
          <a:xfrm>
            <a:off x="548640" y="4279392"/>
            <a:ext cx="11091672" cy="841248"/>
          </a:xfrm>
          <a:prstGeom prst="roundRect">
            <a:avLst>
              <a:gd name="adj" fmla="val 6522"/>
            </a:avLst>
          </a:prstGeom>
          <a:solidFill>
            <a:srgbClr val="DEEBF7"/>
          </a:solidFill>
          <a:ln w="9525">
            <a:solidFill>
              <a:srgbClr val="CFD8DC"/>
            </a:solidFill>
            <a:prstDash val="solid"/>
          </a:ln>
        </p:spPr>
        <p:txBody>
          <a:bodyPr/>
          <a:lstStyle/>
          <a:p>
            <a:endParaRPr lang="es-ES" noProof="0" dirty="0"/>
          </a:p>
        </p:txBody>
      </p:sp>
      <p:sp>
        <p:nvSpPr>
          <p:cNvPr id="15" name="Text 13"/>
          <p:cNvSpPr/>
          <p:nvPr/>
        </p:nvSpPr>
        <p:spPr>
          <a:xfrm>
            <a:off x="822960" y="4581144"/>
            <a:ext cx="3017520" cy="274320"/>
          </a:xfrm>
          <a:prstGeom prst="rect">
            <a:avLst/>
          </a:prstGeom>
          <a:noFill/>
          <a:ln/>
        </p:spPr>
        <p:txBody>
          <a:bodyPr wrap="square" lIns="0" tIns="0" rIns="0" bIns="0" rtlCol="0" anchor="ctr"/>
          <a:lstStyle/>
          <a:p>
            <a:pPr marL="0" indent="0">
              <a:buNone/>
            </a:pPr>
            <a:r>
              <a:rPr lang="es-ES" sz="1400" b="1" kern="0" spc="120" noProof="0">
                <a:solidFill>
                  <a:srgbClr val="6B7280"/>
                </a:solidFill>
                <a:latin typeface="Consolas" pitchFamily="34" charset="0"/>
                <a:ea typeface="Consolas" pitchFamily="34" charset="-122"/>
                <a:cs typeface="Consolas" pitchFamily="34" charset="-120"/>
              </a:rPr>
              <a:t>INTERFAZ</a:t>
            </a:r>
            <a:endParaRPr lang="es-ES" sz="1400" noProof="0"/>
          </a:p>
        </p:txBody>
      </p:sp>
      <p:sp>
        <p:nvSpPr>
          <p:cNvPr id="16" name="Text 14"/>
          <p:cNvSpPr/>
          <p:nvPr/>
        </p:nvSpPr>
        <p:spPr>
          <a:xfrm>
            <a:off x="3931920" y="4480560"/>
            <a:ext cx="7406640" cy="475488"/>
          </a:xfrm>
          <a:prstGeom prst="rect">
            <a:avLst/>
          </a:prstGeom>
          <a:noFill/>
          <a:ln/>
        </p:spPr>
        <p:txBody>
          <a:bodyPr wrap="square" lIns="0" tIns="0" rIns="0" bIns="0" rtlCol="0" anchor="ctr"/>
          <a:lstStyle/>
          <a:p>
            <a:pPr marL="0" indent="0" algn="ctr">
              <a:buNone/>
            </a:pPr>
            <a:r>
              <a:rPr lang="es-ES" sz="2100" b="1" noProof="0" dirty="0">
                <a:solidFill>
                  <a:srgbClr val="1A2A33"/>
                </a:solidFill>
                <a:latin typeface="Consolas" pitchFamily="34" charset="0"/>
                <a:ea typeface="Consolas" pitchFamily="34" charset="-122"/>
                <a:cs typeface="Consolas" pitchFamily="34" charset="-120"/>
              </a:rPr>
              <a:t>Streamlit</a:t>
            </a:r>
            <a:endParaRPr lang="es-ES" sz="2100" noProof="0" dirty="0"/>
          </a:p>
        </p:txBody>
      </p:sp>
      <p:sp>
        <p:nvSpPr>
          <p:cNvPr id="17" name="Shape 15"/>
          <p:cNvSpPr/>
          <p:nvPr/>
        </p:nvSpPr>
        <p:spPr>
          <a:xfrm>
            <a:off x="548640" y="5248656"/>
            <a:ext cx="11091672" cy="841248"/>
          </a:xfrm>
          <a:prstGeom prst="roundRect">
            <a:avLst>
              <a:gd name="adj" fmla="val 6522"/>
            </a:avLst>
          </a:prstGeom>
          <a:solidFill>
            <a:srgbClr val="DEEBF7"/>
          </a:solidFill>
          <a:ln w="9525">
            <a:solidFill>
              <a:srgbClr val="CFD8DC"/>
            </a:solidFill>
            <a:prstDash val="solid"/>
          </a:ln>
        </p:spPr>
        <p:txBody>
          <a:bodyPr/>
          <a:lstStyle/>
          <a:p>
            <a:endParaRPr lang="es-ES" noProof="0" dirty="0"/>
          </a:p>
        </p:txBody>
      </p:sp>
      <p:sp>
        <p:nvSpPr>
          <p:cNvPr id="18" name="Text 16"/>
          <p:cNvSpPr/>
          <p:nvPr/>
        </p:nvSpPr>
        <p:spPr>
          <a:xfrm>
            <a:off x="822960" y="5550408"/>
            <a:ext cx="3017520" cy="274320"/>
          </a:xfrm>
          <a:prstGeom prst="rect">
            <a:avLst/>
          </a:prstGeom>
          <a:noFill/>
          <a:ln/>
        </p:spPr>
        <p:txBody>
          <a:bodyPr wrap="square" lIns="0" tIns="0" rIns="0" bIns="0" rtlCol="0" anchor="ctr"/>
          <a:lstStyle/>
          <a:p>
            <a:pPr marL="0" indent="0">
              <a:buNone/>
            </a:pPr>
            <a:r>
              <a:rPr lang="es-ES" sz="1400" b="1" kern="0" spc="120" noProof="0">
                <a:solidFill>
                  <a:srgbClr val="6B7280"/>
                </a:solidFill>
                <a:latin typeface="Consolas" pitchFamily="34" charset="0"/>
                <a:ea typeface="Consolas" pitchFamily="34" charset="-122"/>
                <a:cs typeface="Consolas" pitchFamily="34" charset="-120"/>
              </a:rPr>
              <a:t>EMPAQUETADO Y CONTROL</a:t>
            </a:r>
            <a:endParaRPr lang="es-ES" sz="1400" noProof="0"/>
          </a:p>
        </p:txBody>
      </p:sp>
      <p:sp>
        <p:nvSpPr>
          <p:cNvPr id="19" name="Text 17"/>
          <p:cNvSpPr/>
          <p:nvPr/>
        </p:nvSpPr>
        <p:spPr>
          <a:xfrm>
            <a:off x="3931920" y="5449824"/>
            <a:ext cx="7406640" cy="475488"/>
          </a:xfrm>
          <a:prstGeom prst="rect">
            <a:avLst/>
          </a:prstGeom>
          <a:noFill/>
          <a:ln/>
        </p:spPr>
        <p:txBody>
          <a:bodyPr wrap="square" lIns="0" tIns="0" rIns="0" bIns="0" rtlCol="0" anchor="ctr"/>
          <a:lstStyle/>
          <a:p>
            <a:pPr marL="0" indent="0" algn="ctr">
              <a:buNone/>
            </a:pPr>
            <a:r>
              <a:rPr lang="es-ES" sz="2100" b="1" noProof="0" dirty="0">
                <a:solidFill>
                  <a:srgbClr val="1A2A33"/>
                </a:solidFill>
                <a:latin typeface="Consolas" pitchFamily="34" charset="0"/>
                <a:ea typeface="Consolas" pitchFamily="34" charset="-122"/>
                <a:cs typeface="Consolas" pitchFamily="34" charset="-120"/>
              </a:rPr>
              <a:t>Docker + GitHub</a:t>
            </a:r>
            <a:endParaRPr lang="es-ES" sz="21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dirty="0">
                <a:solidFill>
                  <a:srgbClr val="4472C4"/>
                </a:solidFill>
                <a:latin typeface="Consolas" pitchFamily="34" charset="0"/>
                <a:ea typeface="Consolas" pitchFamily="34" charset="-122"/>
                <a:cs typeface="Consolas" pitchFamily="34" charset="-120"/>
              </a:rPr>
              <a:t>EVALUACIÓN</a:t>
            </a:r>
            <a:endParaRPr lang="es-ES" sz="2400" noProof="0" dirty="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a:solidFill>
                  <a:srgbClr val="1A2A33"/>
                </a:solidFill>
                <a:latin typeface="Consolas" pitchFamily="34" charset="0"/>
                <a:ea typeface="Consolas" pitchFamily="34" charset="-122"/>
                <a:cs typeface="Consolas" pitchFamily="34" charset="-120"/>
              </a:rPr>
              <a:t>La prueba</a:t>
            </a:r>
            <a:endParaRPr lang="es-ES" sz="2700" noProof="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dirty="0">
                <a:solidFill>
                  <a:srgbClr val="6B7280"/>
                </a:solidFill>
                <a:latin typeface="Consolas" pitchFamily="34" charset="0"/>
                <a:ea typeface="Consolas" pitchFamily="34" charset="-122"/>
                <a:cs typeface="Consolas" pitchFamily="34" charset="-120"/>
              </a:rPr>
              <a:t>07 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graphicFrame>
        <p:nvGraphicFramePr>
          <p:cNvPr id="5" name="Chart 0" descr="Chart"/>
          <p:cNvGraphicFramePr/>
          <p:nvPr>
            <p:extLst>
              <p:ext uri="{D42A27DB-BD31-4B8C-83A1-F6EECF244321}">
                <p14:modId xmlns:p14="http://schemas.microsoft.com/office/powerpoint/2010/main" val="3306706977"/>
              </p:ext>
            </p:extLst>
          </p:nvPr>
        </p:nvGraphicFramePr>
        <p:xfrm>
          <a:off x="548640" y="1417320"/>
          <a:ext cx="612648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995160" y="1417320"/>
            <a:ext cx="4645152" cy="2103120"/>
          </a:xfrm>
          <a:prstGeom prst="roundRect">
            <a:avLst>
              <a:gd name="adj" fmla="val 2609"/>
            </a:avLst>
          </a:prstGeom>
          <a:solidFill>
            <a:srgbClr val="DEEBF7"/>
          </a:solidFill>
          <a:ln w="9525">
            <a:solidFill>
              <a:srgbClr val="CFD8DC"/>
            </a:solidFill>
            <a:prstDash val="solid"/>
          </a:ln>
        </p:spPr>
        <p:txBody>
          <a:bodyPr/>
          <a:lstStyle/>
          <a:p>
            <a:endParaRPr lang="es-ES" noProof="0" dirty="0"/>
          </a:p>
        </p:txBody>
      </p:sp>
      <p:sp>
        <p:nvSpPr>
          <p:cNvPr id="7" name="Text 4"/>
          <p:cNvSpPr/>
          <p:nvPr/>
        </p:nvSpPr>
        <p:spPr>
          <a:xfrm>
            <a:off x="6995160" y="1737360"/>
            <a:ext cx="4645152" cy="822960"/>
          </a:xfrm>
          <a:prstGeom prst="rect">
            <a:avLst/>
          </a:prstGeom>
          <a:noFill/>
          <a:ln/>
        </p:spPr>
        <p:txBody>
          <a:bodyPr wrap="square" lIns="0" tIns="0" rIns="0" bIns="0" rtlCol="0" anchor="ctr"/>
          <a:lstStyle/>
          <a:p>
            <a:pPr marL="0" indent="0" algn="ctr">
              <a:buNone/>
            </a:pPr>
            <a:r>
              <a:rPr lang="es-ES" sz="4400" b="1" noProof="0">
                <a:solidFill>
                  <a:srgbClr val="4472C4"/>
                </a:solidFill>
                <a:latin typeface="Consolas" pitchFamily="34" charset="0"/>
                <a:ea typeface="Consolas" pitchFamily="34" charset="-122"/>
                <a:cs typeface="Consolas" pitchFamily="34" charset="-120"/>
              </a:rPr>
              <a:t>0 / 60</a:t>
            </a:r>
            <a:endParaRPr lang="es-ES" sz="4400" noProof="0" dirty="0"/>
          </a:p>
        </p:txBody>
      </p:sp>
      <p:sp>
        <p:nvSpPr>
          <p:cNvPr id="8" name="Text 5"/>
          <p:cNvSpPr/>
          <p:nvPr/>
        </p:nvSpPr>
        <p:spPr>
          <a:xfrm>
            <a:off x="7223760" y="2697480"/>
            <a:ext cx="4187952" cy="548640"/>
          </a:xfrm>
          <a:prstGeom prst="rect">
            <a:avLst/>
          </a:prstGeom>
          <a:noFill/>
          <a:ln/>
        </p:spPr>
        <p:txBody>
          <a:bodyPr wrap="square" lIns="0" tIns="0" rIns="0" bIns="0" rtlCol="0" anchor="ctr"/>
          <a:lstStyle/>
          <a:p>
            <a:pPr marL="0" indent="0" algn="ctr">
              <a:buNone/>
            </a:pPr>
            <a:r>
              <a:rPr lang="es-ES" sz="1600" noProof="0">
                <a:solidFill>
                  <a:srgbClr val="1A2A33"/>
                </a:solidFill>
                <a:latin typeface="Consolas" pitchFamily="34" charset="0"/>
                <a:ea typeface="Consolas" pitchFamily="34" charset="-122"/>
                <a:cs typeface="Consolas" pitchFamily="34" charset="-120"/>
              </a:rPr>
              <a:t>alucinaciones en 60 generaciones</a:t>
            </a:r>
            <a:endParaRPr lang="es-ES" sz="1600" noProof="0"/>
          </a:p>
        </p:txBody>
      </p:sp>
      <p:sp>
        <p:nvSpPr>
          <p:cNvPr id="9" name="Shape 6"/>
          <p:cNvSpPr/>
          <p:nvPr/>
        </p:nvSpPr>
        <p:spPr>
          <a:xfrm>
            <a:off x="6995160" y="3794760"/>
            <a:ext cx="4645152" cy="2103120"/>
          </a:xfrm>
          <a:prstGeom prst="roundRect">
            <a:avLst>
              <a:gd name="adj" fmla="val 2609"/>
            </a:avLst>
          </a:prstGeom>
          <a:solidFill>
            <a:srgbClr val="DEEBF7"/>
          </a:solidFill>
          <a:ln w="9525">
            <a:solidFill>
              <a:srgbClr val="CFD8DC"/>
            </a:solidFill>
            <a:prstDash val="solid"/>
          </a:ln>
        </p:spPr>
        <p:txBody>
          <a:bodyPr/>
          <a:lstStyle/>
          <a:p>
            <a:endParaRPr lang="es-ES" noProof="0" dirty="0"/>
          </a:p>
        </p:txBody>
      </p:sp>
      <p:sp>
        <p:nvSpPr>
          <p:cNvPr id="10" name="Text 7"/>
          <p:cNvSpPr/>
          <p:nvPr/>
        </p:nvSpPr>
        <p:spPr>
          <a:xfrm>
            <a:off x="6995160" y="4114800"/>
            <a:ext cx="4645152" cy="822960"/>
          </a:xfrm>
          <a:prstGeom prst="rect">
            <a:avLst/>
          </a:prstGeom>
          <a:noFill/>
          <a:ln/>
        </p:spPr>
        <p:txBody>
          <a:bodyPr wrap="square" lIns="0" tIns="0" rIns="0" bIns="0" rtlCol="0" anchor="ctr"/>
          <a:lstStyle/>
          <a:p>
            <a:pPr marL="0" indent="0" algn="ctr">
              <a:buNone/>
            </a:pPr>
            <a:r>
              <a:rPr lang="es-ES" sz="4400" b="1" noProof="0">
                <a:solidFill>
                  <a:srgbClr val="4472C4"/>
                </a:solidFill>
                <a:latin typeface="Consolas" pitchFamily="34" charset="0"/>
                <a:ea typeface="Consolas" pitchFamily="34" charset="-122"/>
                <a:cs typeface="Consolas" pitchFamily="34" charset="-120"/>
              </a:rPr>
              <a:t>6 de 6</a:t>
            </a:r>
            <a:endParaRPr lang="es-ES" sz="4400" noProof="0" dirty="0"/>
          </a:p>
        </p:txBody>
      </p:sp>
      <p:sp>
        <p:nvSpPr>
          <p:cNvPr id="11" name="Text 8"/>
          <p:cNvSpPr/>
          <p:nvPr/>
        </p:nvSpPr>
        <p:spPr>
          <a:xfrm>
            <a:off x="7223760" y="5074920"/>
            <a:ext cx="4187952" cy="548640"/>
          </a:xfrm>
          <a:prstGeom prst="rect">
            <a:avLst/>
          </a:prstGeom>
          <a:noFill/>
          <a:ln/>
        </p:spPr>
        <p:txBody>
          <a:bodyPr wrap="square" lIns="0" tIns="0" rIns="0" bIns="0" rtlCol="0" anchor="ctr"/>
          <a:lstStyle/>
          <a:p>
            <a:pPr marL="0" indent="0" algn="ctr">
              <a:buNone/>
            </a:pPr>
            <a:r>
              <a:rPr lang="es-ES" sz="1600" noProof="0">
                <a:solidFill>
                  <a:srgbClr val="1A2A33"/>
                </a:solidFill>
                <a:latin typeface="Consolas" pitchFamily="34" charset="0"/>
                <a:ea typeface="Consolas" pitchFamily="34" charset="-122"/>
                <a:cs typeface="Consolas" pitchFamily="34" charset="-120"/>
              </a:rPr>
              <a:t>«no lo sé» correctos</a:t>
            </a:r>
            <a:endParaRPr lang="es-ES" sz="1600" noProof="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APRENDIZAJES</a:t>
            </a:r>
            <a:endParaRPr lang="es-ES" sz="2400" noProof="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a:solidFill>
                  <a:srgbClr val="1A2A33"/>
                </a:solidFill>
                <a:latin typeface="Consolas" pitchFamily="34" charset="0"/>
                <a:ea typeface="Consolas" pitchFamily="34" charset="-122"/>
                <a:cs typeface="Consolas" pitchFamily="34" charset="-120"/>
              </a:rPr>
              <a:t>Lo aprendido</a:t>
            </a:r>
            <a:endParaRPr lang="es-ES" sz="2700" noProof="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a:solidFill>
                  <a:srgbClr val="6B7280"/>
                </a:solidFill>
                <a:latin typeface="Consolas" pitchFamily="34" charset="0"/>
                <a:ea typeface="Consolas" pitchFamily="34" charset="-122"/>
                <a:cs typeface="Consolas" pitchFamily="34" charset="-120"/>
              </a:rPr>
              <a:t>08 </a:t>
            </a:r>
            <a:r>
              <a:rPr lang="es-ES" sz="1600" noProof="0" dirty="0">
                <a:solidFill>
                  <a:srgbClr val="6B7280"/>
                </a:solidFill>
                <a:latin typeface="Consolas" pitchFamily="34" charset="0"/>
                <a:ea typeface="Consolas" pitchFamily="34" charset="-122"/>
                <a:cs typeface="Consolas" pitchFamily="34" charset="-120"/>
              </a:rPr>
              <a:t>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Text 3"/>
          <p:cNvSpPr/>
          <p:nvPr/>
        </p:nvSpPr>
        <p:spPr>
          <a:xfrm>
            <a:off x="640080" y="1691640"/>
            <a:ext cx="10908792" cy="777240"/>
          </a:xfrm>
          <a:prstGeom prst="rect">
            <a:avLst/>
          </a:prstGeom>
          <a:noFill/>
          <a:ln/>
        </p:spPr>
        <p:txBody>
          <a:bodyPr wrap="square" lIns="0" tIns="0" rIns="0" bIns="0" rtlCol="0" anchor="ctr"/>
          <a:lstStyle/>
          <a:p>
            <a:pPr marL="0" indent="0" algn="ctr">
              <a:buNone/>
            </a:pPr>
            <a:r>
              <a:rPr lang="es-ES" sz="2300" b="1" i="1" noProof="0" dirty="0">
                <a:solidFill>
                  <a:srgbClr val="1A2A33"/>
                </a:solidFill>
                <a:latin typeface="Consolas" pitchFamily="34" charset="0"/>
                <a:ea typeface="Consolas" pitchFamily="34" charset="-122"/>
                <a:cs typeface="Consolas" pitchFamily="34" charset="-120"/>
              </a:rPr>
              <a:t>«La medición contradice.»</a:t>
            </a:r>
            <a:endParaRPr lang="es-ES" sz="2300" noProof="0" dirty="0"/>
          </a:p>
        </p:txBody>
      </p:sp>
      <p:sp>
        <p:nvSpPr>
          <p:cNvPr id="6" name="Text 4"/>
          <p:cNvSpPr/>
          <p:nvPr/>
        </p:nvSpPr>
        <p:spPr>
          <a:xfrm>
            <a:off x="640080" y="3063240"/>
            <a:ext cx="10908792" cy="777240"/>
          </a:xfrm>
          <a:prstGeom prst="rect">
            <a:avLst/>
          </a:prstGeom>
          <a:noFill/>
          <a:ln/>
        </p:spPr>
        <p:txBody>
          <a:bodyPr wrap="square" lIns="0" tIns="0" rIns="0" bIns="0" rtlCol="0" anchor="ctr"/>
          <a:lstStyle/>
          <a:p>
            <a:pPr marL="0" indent="0" algn="ctr">
              <a:buNone/>
            </a:pPr>
            <a:r>
              <a:rPr lang="es-ES" sz="2300" b="1" i="1" noProof="0" dirty="0">
                <a:solidFill>
                  <a:srgbClr val="1A2A33"/>
                </a:solidFill>
                <a:latin typeface="Consolas" pitchFamily="34" charset="0"/>
                <a:ea typeface="Consolas" pitchFamily="34" charset="-122"/>
                <a:cs typeface="Consolas" pitchFamily="34" charset="-120"/>
              </a:rPr>
              <a:t>«El 85 % del corpus no cabe en la ventana.»</a:t>
            </a:r>
            <a:endParaRPr lang="es-ES" sz="2300" noProof="0" dirty="0"/>
          </a:p>
        </p:txBody>
      </p:sp>
      <p:sp>
        <p:nvSpPr>
          <p:cNvPr id="7" name="Text 5"/>
          <p:cNvSpPr/>
          <p:nvPr/>
        </p:nvSpPr>
        <p:spPr>
          <a:xfrm>
            <a:off x="640080" y="4434840"/>
            <a:ext cx="10908792" cy="777240"/>
          </a:xfrm>
          <a:prstGeom prst="rect">
            <a:avLst/>
          </a:prstGeom>
          <a:noFill/>
          <a:ln/>
        </p:spPr>
        <p:txBody>
          <a:bodyPr wrap="square" lIns="0" tIns="0" rIns="0" bIns="0" rtlCol="0" anchor="ctr"/>
          <a:lstStyle/>
          <a:p>
            <a:pPr marL="0" indent="0" algn="ctr">
              <a:buNone/>
            </a:pPr>
            <a:r>
              <a:rPr lang="es-ES" sz="2300" b="1" i="1" noProof="0" dirty="0">
                <a:solidFill>
                  <a:srgbClr val="1A2A33"/>
                </a:solidFill>
                <a:latin typeface="Consolas" pitchFamily="34" charset="0"/>
                <a:ea typeface="Consolas" pitchFamily="34" charset="-122"/>
                <a:cs typeface="Consolas" pitchFamily="34" charset="-120"/>
              </a:rPr>
              <a:t>«Lo difícil no fue el modelo: fueron las costuras.»</a:t>
            </a:r>
            <a:endParaRPr lang="es-ES" sz="23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CONTINUIDAD</a:t>
            </a:r>
            <a:endParaRPr lang="es-ES" sz="2400" noProof="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Plan de continuidad</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a:solidFill>
                  <a:srgbClr val="6B7280"/>
                </a:solidFill>
                <a:latin typeface="Consolas" pitchFamily="34" charset="0"/>
                <a:ea typeface="Consolas" pitchFamily="34" charset="-122"/>
                <a:cs typeface="Consolas" pitchFamily="34" charset="-120"/>
              </a:rPr>
              <a:t>09 </a:t>
            </a:r>
            <a:r>
              <a:rPr lang="es-ES" sz="1600" noProof="0" dirty="0">
                <a:solidFill>
                  <a:srgbClr val="6B7280"/>
                </a:solidFill>
                <a:latin typeface="Consolas" pitchFamily="34" charset="0"/>
                <a:ea typeface="Consolas" pitchFamily="34" charset="-122"/>
                <a:cs typeface="Consolas" pitchFamily="34" charset="-120"/>
              </a:rPr>
              <a:t>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8640" y="4480560"/>
            <a:ext cx="2103120" cy="1097280"/>
          </a:xfrm>
          <a:prstGeom prst="roundRect">
            <a:avLst>
              <a:gd name="adj" fmla="val 5000"/>
            </a:avLst>
          </a:prstGeom>
          <a:solidFill>
            <a:srgbClr val="DEEBF7"/>
          </a:solidFill>
          <a:ln w="9525">
            <a:solidFill>
              <a:srgbClr val="CFD8DC"/>
            </a:solidFill>
            <a:prstDash val="solid"/>
          </a:ln>
        </p:spPr>
        <p:txBody>
          <a:bodyPr/>
          <a:lstStyle/>
          <a:p>
            <a:endParaRPr lang="es-ES" noProof="0" dirty="0"/>
          </a:p>
        </p:txBody>
      </p:sp>
      <p:sp>
        <p:nvSpPr>
          <p:cNvPr id="6" name="Text 4"/>
          <p:cNvSpPr/>
          <p:nvPr/>
        </p:nvSpPr>
        <p:spPr>
          <a:xfrm>
            <a:off x="548640" y="4590288"/>
            <a:ext cx="2103120" cy="365760"/>
          </a:xfrm>
          <a:prstGeom prst="rect">
            <a:avLst/>
          </a:prstGeom>
          <a:noFill/>
          <a:ln/>
        </p:spPr>
        <p:txBody>
          <a:bodyPr wrap="square" lIns="0" tIns="0" rIns="0" bIns="0" rtlCol="0" anchor="ctr"/>
          <a:lstStyle/>
          <a:p>
            <a:pPr marL="0" indent="0" algn="ctr">
              <a:buNone/>
            </a:pPr>
            <a:r>
              <a:rPr lang="es-ES" sz="2000" b="1" noProof="0">
                <a:solidFill>
                  <a:srgbClr val="4472C4"/>
                </a:solidFill>
                <a:latin typeface="Consolas" pitchFamily="34" charset="0"/>
                <a:ea typeface="Consolas" pitchFamily="34" charset="-122"/>
                <a:cs typeface="Consolas" pitchFamily="34" charset="-120"/>
              </a:rPr>
              <a:t>1</a:t>
            </a:r>
            <a:endParaRPr lang="es-ES" sz="2000" noProof="0"/>
          </a:p>
        </p:txBody>
      </p:sp>
      <p:sp>
        <p:nvSpPr>
          <p:cNvPr id="7" name="Text 5"/>
          <p:cNvSpPr/>
          <p:nvPr/>
        </p:nvSpPr>
        <p:spPr>
          <a:xfrm>
            <a:off x="621792" y="4983480"/>
            <a:ext cx="1956816" cy="658368"/>
          </a:xfrm>
          <a:prstGeom prst="rect">
            <a:avLst/>
          </a:prstGeom>
          <a:noFill/>
          <a:ln/>
        </p:spPr>
        <p:txBody>
          <a:bodyPr wrap="square" lIns="0" tIns="0" rIns="0" bIns="0" rtlCol="0" anchor="ctr"/>
          <a:lstStyle/>
          <a:p>
            <a:pPr marL="0" indent="0" algn="ctr">
              <a:lnSpc>
                <a:spcPct val="102000"/>
              </a:lnSpc>
              <a:buNone/>
            </a:pPr>
            <a:r>
              <a:rPr lang="es-ES" sz="1600" b="1" noProof="0" dirty="0">
                <a:solidFill>
                  <a:srgbClr val="1A2A33"/>
                </a:solidFill>
                <a:latin typeface="Consolas" pitchFamily="34" charset="0"/>
                <a:ea typeface="Consolas" pitchFamily="34" charset="-122"/>
                <a:cs typeface="Consolas" pitchFamily="34" charset="-120"/>
              </a:rPr>
              <a:t>evaluación</a:t>
            </a:r>
            <a:endParaRPr lang="es-ES" sz="1600" noProof="0" dirty="0"/>
          </a:p>
          <a:p>
            <a:pPr marL="0" indent="0" algn="ctr">
              <a:lnSpc>
                <a:spcPct val="102000"/>
              </a:lnSpc>
              <a:buNone/>
            </a:pPr>
            <a:r>
              <a:rPr lang="es-ES" sz="1600" b="1" noProof="0" dirty="0">
                <a:solidFill>
                  <a:srgbClr val="1A2A33"/>
                </a:solidFill>
                <a:latin typeface="Consolas" pitchFamily="34" charset="0"/>
                <a:ea typeface="Consolas" pitchFamily="34" charset="-122"/>
                <a:cs typeface="Consolas" pitchFamily="34" charset="-120"/>
              </a:rPr>
              <a:t>automática</a:t>
            </a:r>
            <a:endParaRPr lang="es-ES" sz="1600" noProof="0" dirty="0"/>
          </a:p>
        </p:txBody>
      </p:sp>
      <p:sp>
        <p:nvSpPr>
          <p:cNvPr id="9" name="Shape 7"/>
          <p:cNvSpPr/>
          <p:nvPr/>
        </p:nvSpPr>
        <p:spPr>
          <a:xfrm>
            <a:off x="2798064" y="3822192"/>
            <a:ext cx="2103120" cy="1755648"/>
          </a:xfrm>
          <a:prstGeom prst="roundRect">
            <a:avLst>
              <a:gd name="adj" fmla="val 3125"/>
            </a:avLst>
          </a:prstGeom>
          <a:solidFill>
            <a:srgbClr val="DEEBF7"/>
          </a:solidFill>
          <a:ln w="9525">
            <a:solidFill>
              <a:srgbClr val="CFD8DC"/>
            </a:solidFill>
            <a:prstDash val="solid"/>
          </a:ln>
        </p:spPr>
        <p:txBody>
          <a:bodyPr/>
          <a:lstStyle/>
          <a:p>
            <a:endParaRPr lang="es-ES" noProof="0" dirty="0"/>
          </a:p>
        </p:txBody>
      </p:sp>
      <p:sp>
        <p:nvSpPr>
          <p:cNvPr id="10" name="Text 8"/>
          <p:cNvSpPr/>
          <p:nvPr/>
        </p:nvSpPr>
        <p:spPr>
          <a:xfrm>
            <a:off x="2798064" y="3931920"/>
            <a:ext cx="2103120" cy="365760"/>
          </a:xfrm>
          <a:prstGeom prst="rect">
            <a:avLst/>
          </a:prstGeom>
          <a:noFill/>
          <a:ln/>
        </p:spPr>
        <p:txBody>
          <a:bodyPr wrap="square" lIns="0" tIns="0" rIns="0" bIns="0" rtlCol="0" anchor="ctr"/>
          <a:lstStyle/>
          <a:p>
            <a:pPr marL="0" indent="0" algn="ctr">
              <a:buNone/>
            </a:pPr>
            <a:r>
              <a:rPr lang="es-ES" sz="2000" b="1" noProof="0">
                <a:solidFill>
                  <a:srgbClr val="4472C4"/>
                </a:solidFill>
                <a:latin typeface="Consolas" pitchFamily="34" charset="0"/>
                <a:ea typeface="Consolas" pitchFamily="34" charset="-122"/>
                <a:cs typeface="Consolas" pitchFamily="34" charset="-120"/>
              </a:rPr>
              <a:t>2</a:t>
            </a:r>
            <a:endParaRPr lang="es-ES" sz="2000" noProof="0"/>
          </a:p>
        </p:txBody>
      </p:sp>
      <p:sp>
        <p:nvSpPr>
          <p:cNvPr id="11" name="Text 9"/>
          <p:cNvSpPr/>
          <p:nvPr/>
        </p:nvSpPr>
        <p:spPr>
          <a:xfrm>
            <a:off x="2871216" y="4325112"/>
            <a:ext cx="1956816" cy="658368"/>
          </a:xfrm>
          <a:prstGeom prst="rect">
            <a:avLst/>
          </a:prstGeom>
          <a:noFill/>
          <a:ln/>
        </p:spPr>
        <p:txBody>
          <a:bodyPr wrap="square" lIns="0" tIns="0" rIns="0" bIns="0" rtlCol="0" anchor="ctr"/>
          <a:lstStyle/>
          <a:p>
            <a:pPr marL="0" indent="0" algn="ctr">
              <a:lnSpc>
                <a:spcPct val="102000"/>
              </a:lnSpc>
              <a:buNone/>
            </a:pPr>
            <a:r>
              <a:rPr lang="es-ES" sz="1600" b="1" noProof="0">
                <a:solidFill>
                  <a:srgbClr val="1A2A33"/>
                </a:solidFill>
                <a:latin typeface="Consolas" pitchFamily="34" charset="0"/>
                <a:ea typeface="Consolas" pitchFamily="34" charset="-122"/>
                <a:cs typeface="Consolas" pitchFamily="34" charset="-120"/>
              </a:rPr>
              <a:t>memoria</a:t>
            </a:r>
            <a:endParaRPr lang="es-ES" sz="1600" noProof="0"/>
          </a:p>
          <a:p>
            <a:pPr marL="0" indent="0" algn="ctr">
              <a:lnSpc>
                <a:spcPct val="102000"/>
              </a:lnSpc>
              <a:buNone/>
            </a:pPr>
            <a:r>
              <a:rPr lang="es-ES" sz="1600" b="1" noProof="0">
                <a:solidFill>
                  <a:srgbClr val="1A2A33"/>
                </a:solidFill>
                <a:latin typeface="Consolas" pitchFamily="34" charset="0"/>
                <a:ea typeface="Consolas" pitchFamily="34" charset="-122"/>
                <a:cs typeface="Consolas" pitchFamily="34" charset="-120"/>
              </a:rPr>
              <a:t>conversacional</a:t>
            </a:r>
            <a:endParaRPr lang="es-ES" sz="1600" noProof="0"/>
          </a:p>
        </p:txBody>
      </p:sp>
      <p:sp>
        <p:nvSpPr>
          <p:cNvPr id="12" name="Text 10"/>
          <p:cNvSpPr/>
          <p:nvPr/>
        </p:nvSpPr>
        <p:spPr>
          <a:xfrm>
            <a:off x="2798064" y="5010912"/>
            <a:ext cx="2103120" cy="292608"/>
          </a:xfrm>
          <a:prstGeom prst="rect">
            <a:avLst/>
          </a:prstGeom>
          <a:noFill/>
          <a:ln/>
        </p:spPr>
        <p:txBody>
          <a:bodyPr wrap="square" lIns="0" tIns="0" rIns="0" bIns="0" rtlCol="0" anchor="ctr"/>
          <a:lstStyle/>
          <a:p>
            <a:pPr marL="0" indent="0" algn="ctr">
              <a:buNone/>
            </a:pPr>
            <a:r>
              <a:rPr lang="es-ES" sz="1400" i="1" noProof="0">
                <a:solidFill>
                  <a:srgbClr val="6B7280"/>
                </a:solidFill>
                <a:latin typeface="Consolas" pitchFamily="34" charset="0"/>
                <a:ea typeface="Consolas" pitchFamily="34" charset="-122"/>
                <a:cs typeface="Consolas" pitchFamily="34" charset="-120"/>
              </a:rPr>
              <a:t>(días)</a:t>
            </a:r>
            <a:endParaRPr lang="es-ES" sz="1400" noProof="0"/>
          </a:p>
        </p:txBody>
      </p:sp>
      <p:sp>
        <p:nvSpPr>
          <p:cNvPr id="13" name="Shape 11"/>
          <p:cNvSpPr/>
          <p:nvPr/>
        </p:nvSpPr>
        <p:spPr>
          <a:xfrm>
            <a:off x="5047488" y="3163824"/>
            <a:ext cx="2103120" cy="2414016"/>
          </a:xfrm>
          <a:prstGeom prst="roundRect">
            <a:avLst>
              <a:gd name="adj" fmla="val 2609"/>
            </a:avLst>
          </a:prstGeom>
          <a:solidFill>
            <a:srgbClr val="DEEBF7"/>
          </a:solidFill>
          <a:ln w="9525">
            <a:solidFill>
              <a:srgbClr val="CFD8DC"/>
            </a:solidFill>
            <a:prstDash val="solid"/>
          </a:ln>
        </p:spPr>
        <p:txBody>
          <a:bodyPr/>
          <a:lstStyle/>
          <a:p>
            <a:endParaRPr lang="es-ES" noProof="0" dirty="0"/>
          </a:p>
        </p:txBody>
      </p:sp>
      <p:sp>
        <p:nvSpPr>
          <p:cNvPr id="14" name="Text 12"/>
          <p:cNvSpPr/>
          <p:nvPr/>
        </p:nvSpPr>
        <p:spPr>
          <a:xfrm>
            <a:off x="5047488" y="3273552"/>
            <a:ext cx="2103120" cy="365760"/>
          </a:xfrm>
          <a:prstGeom prst="rect">
            <a:avLst/>
          </a:prstGeom>
          <a:noFill/>
          <a:ln/>
        </p:spPr>
        <p:txBody>
          <a:bodyPr wrap="square" lIns="0" tIns="0" rIns="0" bIns="0" rtlCol="0" anchor="ctr"/>
          <a:lstStyle/>
          <a:p>
            <a:pPr marL="0" indent="0" algn="ctr">
              <a:buNone/>
            </a:pPr>
            <a:r>
              <a:rPr lang="es-ES" sz="2000" b="1" noProof="0">
                <a:solidFill>
                  <a:srgbClr val="4472C4"/>
                </a:solidFill>
                <a:latin typeface="Consolas" pitchFamily="34" charset="0"/>
                <a:ea typeface="Consolas" pitchFamily="34" charset="-122"/>
                <a:cs typeface="Consolas" pitchFamily="34" charset="-120"/>
              </a:rPr>
              <a:t>3</a:t>
            </a:r>
            <a:endParaRPr lang="es-ES" sz="2000" noProof="0"/>
          </a:p>
        </p:txBody>
      </p:sp>
      <p:sp>
        <p:nvSpPr>
          <p:cNvPr id="15" name="Text 13"/>
          <p:cNvSpPr/>
          <p:nvPr/>
        </p:nvSpPr>
        <p:spPr>
          <a:xfrm>
            <a:off x="5120640" y="3666744"/>
            <a:ext cx="1956816" cy="658368"/>
          </a:xfrm>
          <a:prstGeom prst="rect">
            <a:avLst/>
          </a:prstGeom>
          <a:noFill/>
          <a:ln/>
        </p:spPr>
        <p:txBody>
          <a:bodyPr wrap="square" lIns="0" tIns="0" rIns="0" bIns="0" rtlCol="0" anchor="ctr"/>
          <a:lstStyle/>
          <a:p>
            <a:pPr marL="0" indent="0" algn="ctr">
              <a:lnSpc>
                <a:spcPct val="102000"/>
              </a:lnSpc>
              <a:buNone/>
            </a:pPr>
            <a:r>
              <a:rPr lang="es-ES" sz="1600" b="1" noProof="0">
                <a:solidFill>
                  <a:srgbClr val="1A2A33"/>
                </a:solidFill>
                <a:latin typeface="Consolas" pitchFamily="34" charset="0"/>
                <a:ea typeface="Consolas" pitchFamily="34" charset="-122"/>
                <a:cs typeface="Consolas" pitchFamily="34" charset="-120"/>
              </a:rPr>
              <a:t>mejor</a:t>
            </a:r>
            <a:endParaRPr lang="es-ES" sz="1600" noProof="0"/>
          </a:p>
          <a:p>
            <a:pPr marL="0" indent="0" algn="ctr">
              <a:lnSpc>
                <a:spcPct val="102000"/>
              </a:lnSpc>
              <a:buNone/>
            </a:pPr>
            <a:r>
              <a:rPr lang="es-ES" sz="1600" b="1" noProof="0">
                <a:solidFill>
                  <a:srgbClr val="1A2A33"/>
                </a:solidFill>
                <a:latin typeface="Consolas" pitchFamily="34" charset="0"/>
                <a:ea typeface="Consolas" pitchFamily="34" charset="-122"/>
                <a:cs typeface="Consolas" pitchFamily="34" charset="-120"/>
              </a:rPr>
              <a:t>búsqueda</a:t>
            </a:r>
            <a:endParaRPr lang="es-ES" sz="1600" noProof="0"/>
          </a:p>
        </p:txBody>
      </p:sp>
      <p:sp>
        <p:nvSpPr>
          <p:cNvPr id="16" name="Shape 14"/>
          <p:cNvSpPr/>
          <p:nvPr/>
        </p:nvSpPr>
        <p:spPr>
          <a:xfrm>
            <a:off x="7296912" y="2505456"/>
            <a:ext cx="2103120" cy="3072384"/>
          </a:xfrm>
          <a:prstGeom prst="roundRect">
            <a:avLst>
              <a:gd name="adj" fmla="val 2609"/>
            </a:avLst>
          </a:prstGeom>
          <a:solidFill>
            <a:srgbClr val="DEEBF7"/>
          </a:solidFill>
          <a:ln w="9525">
            <a:solidFill>
              <a:srgbClr val="CFD8DC"/>
            </a:solidFill>
            <a:prstDash val="solid"/>
          </a:ln>
        </p:spPr>
        <p:txBody>
          <a:bodyPr/>
          <a:lstStyle/>
          <a:p>
            <a:endParaRPr lang="es-ES" noProof="0" dirty="0"/>
          </a:p>
        </p:txBody>
      </p:sp>
      <p:sp>
        <p:nvSpPr>
          <p:cNvPr id="17" name="Text 15"/>
          <p:cNvSpPr/>
          <p:nvPr/>
        </p:nvSpPr>
        <p:spPr>
          <a:xfrm>
            <a:off x="7296912" y="2615184"/>
            <a:ext cx="2103120" cy="365760"/>
          </a:xfrm>
          <a:prstGeom prst="rect">
            <a:avLst/>
          </a:prstGeom>
          <a:noFill/>
          <a:ln/>
        </p:spPr>
        <p:txBody>
          <a:bodyPr wrap="square" lIns="0" tIns="0" rIns="0" bIns="0" rtlCol="0" anchor="ctr"/>
          <a:lstStyle/>
          <a:p>
            <a:pPr marL="0" indent="0" algn="ctr">
              <a:buNone/>
            </a:pPr>
            <a:r>
              <a:rPr lang="es-ES" sz="2000" b="1" noProof="0">
                <a:solidFill>
                  <a:srgbClr val="4472C4"/>
                </a:solidFill>
                <a:latin typeface="Consolas" pitchFamily="34" charset="0"/>
                <a:ea typeface="Consolas" pitchFamily="34" charset="-122"/>
                <a:cs typeface="Consolas" pitchFamily="34" charset="-120"/>
              </a:rPr>
              <a:t>4</a:t>
            </a:r>
            <a:endParaRPr lang="es-ES" sz="2000" noProof="0"/>
          </a:p>
        </p:txBody>
      </p:sp>
      <p:sp>
        <p:nvSpPr>
          <p:cNvPr id="18" name="Text 16"/>
          <p:cNvSpPr/>
          <p:nvPr/>
        </p:nvSpPr>
        <p:spPr>
          <a:xfrm>
            <a:off x="7370064" y="3008376"/>
            <a:ext cx="1956816" cy="658368"/>
          </a:xfrm>
          <a:prstGeom prst="rect">
            <a:avLst/>
          </a:prstGeom>
          <a:noFill/>
          <a:ln/>
        </p:spPr>
        <p:txBody>
          <a:bodyPr wrap="square" lIns="0" tIns="0" rIns="0" bIns="0" rtlCol="0" anchor="ctr"/>
          <a:lstStyle/>
          <a:p>
            <a:pPr marL="0" indent="0" algn="ctr">
              <a:lnSpc>
                <a:spcPct val="102000"/>
              </a:lnSpc>
              <a:buNone/>
            </a:pPr>
            <a:r>
              <a:rPr lang="es-ES" sz="1600" b="1" noProof="0" dirty="0" err="1">
                <a:solidFill>
                  <a:srgbClr val="1A2A33"/>
                </a:solidFill>
                <a:latin typeface="Consolas" pitchFamily="34" charset="0"/>
                <a:ea typeface="Consolas" pitchFamily="34" charset="-122"/>
                <a:cs typeface="Consolas" pitchFamily="34" charset="-120"/>
              </a:rPr>
              <a:t>PDFs</a:t>
            </a:r>
            <a:r>
              <a:rPr lang="es-ES" sz="1600" b="1" noProof="0" dirty="0">
                <a:solidFill>
                  <a:srgbClr val="1A2A33"/>
                </a:solidFill>
                <a:latin typeface="Consolas" pitchFamily="34" charset="0"/>
                <a:ea typeface="Consolas" pitchFamily="34" charset="-122"/>
                <a:cs typeface="Consolas" pitchFamily="34" charset="-120"/>
              </a:rPr>
              <a:t> + OCR</a:t>
            </a:r>
            <a:endParaRPr lang="es-ES" sz="1600" noProof="0" dirty="0"/>
          </a:p>
        </p:txBody>
      </p:sp>
      <p:sp>
        <p:nvSpPr>
          <p:cNvPr id="19" name="Shape 17"/>
          <p:cNvSpPr/>
          <p:nvPr/>
        </p:nvSpPr>
        <p:spPr>
          <a:xfrm>
            <a:off x="9546336" y="1847088"/>
            <a:ext cx="2103120" cy="3730752"/>
          </a:xfrm>
          <a:prstGeom prst="roundRect">
            <a:avLst>
              <a:gd name="adj" fmla="val 2609"/>
            </a:avLst>
          </a:prstGeom>
          <a:solidFill>
            <a:srgbClr val="DEEBF7"/>
          </a:solidFill>
          <a:ln w="9525">
            <a:solidFill>
              <a:srgbClr val="CFD8DC"/>
            </a:solidFill>
            <a:prstDash val="solid"/>
          </a:ln>
        </p:spPr>
        <p:txBody>
          <a:bodyPr/>
          <a:lstStyle/>
          <a:p>
            <a:endParaRPr lang="es-ES" noProof="0" dirty="0"/>
          </a:p>
        </p:txBody>
      </p:sp>
      <p:sp>
        <p:nvSpPr>
          <p:cNvPr id="20" name="Text 18"/>
          <p:cNvSpPr/>
          <p:nvPr/>
        </p:nvSpPr>
        <p:spPr>
          <a:xfrm>
            <a:off x="9546336" y="1956816"/>
            <a:ext cx="2103120" cy="365760"/>
          </a:xfrm>
          <a:prstGeom prst="rect">
            <a:avLst/>
          </a:prstGeom>
          <a:noFill/>
          <a:ln/>
        </p:spPr>
        <p:txBody>
          <a:bodyPr wrap="square" lIns="0" tIns="0" rIns="0" bIns="0" rtlCol="0" anchor="ctr"/>
          <a:lstStyle/>
          <a:p>
            <a:pPr marL="0" indent="0" algn="ctr">
              <a:buNone/>
            </a:pPr>
            <a:r>
              <a:rPr lang="es-ES" sz="2000" b="1" noProof="0">
                <a:solidFill>
                  <a:srgbClr val="4472C4"/>
                </a:solidFill>
                <a:latin typeface="Consolas" pitchFamily="34" charset="0"/>
                <a:ea typeface="Consolas" pitchFamily="34" charset="-122"/>
                <a:cs typeface="Consolas" pitchFamily="34" charset="-120"/>
              </a:rPr>
              <a:t>5</a:t>
            </a:r>
            <a:endParaRPr lang="es-ES" sz="2000" noProof="0"/>
          </a:p>
        </p:txBody>
      </p:sp>
      <p:sp>
        <p:nvSpPr>
          <p:cNvPr id="21" name="Text 19"/>
          <p:cNvSpPr/>
          <p:nvPr/>
        </p:nvSpPr>
        <p:spPr>
          <a:xfrm>
            <a:off x="9619488" y="2350008"/>
            <a:ext cx="1956816" cy="658368"/>
          </a:xfrm>
          <a:prstGeom prst="rect">
            <a:avLst/>
          </a:prstGeom>
          <a:noFill/>
          <a:ln/>
        </p:spPr>
        <p:txBody>
          <a:bodyPr wrap="square" lIns="0" tIns="0" rIns="0" bIns="0" rtlCol="0" anchor="ctr"/>
          <a:lstStyle/>
          <a:p>
            <a:pPr marL="0" indent="0" algn="ctr">
              <a:lnSpc>
                <a:spcPct val="102000"/>
              </a:lnSpc>
              <a:buNone/>
            </a:pPr>
            <a:r>
              <a:rPr lang="es-ES" sz="1600" b="1" noProof="0" dirty="0">
                <a:solidFill>
                  <a:srgbClr val="1A2A33"/>
                </a:solidFill>
                <a:latin typeface="Consolas" pitchFamily="34" charset="0"/>
                <a:ea typeface="Consolas" pitchFamily="34" charset="-122"/>
                <a:cs typeface="Consolas" pitchFamily="34" charset="-120"/>
              </a:rPr>
              <a:t>mantenimiento</a:t>
            </a:r>
            <a:endParaRPr lang="es-ES" sz="1600" noProof="0" dirty="0"/>
          </a:p>
        </p:txBody>
      </p:sp>
      <p:sp>
        <p:nvSpPr>
          <p:cNvPr id="22" name="Text 20"/>
          <p:cNvSpPr/>
          <p:nvPr/>
        </p:nvSpPr>
        <p:spPr>
          <a:xfrm>
            <a:off x="548640" y="5897880"/>
            <a:ext cx="11091672" cy="365760"/>
          </a:xfrm>
          <a:prstGeom prst="rect">
            <a:avLst/>
          </a:prstGeom>
          <a:noFill/>
          <a:ln/>
        </p:spPr>
        <p:txBody>
          <a:bodyPr wrap="square" lIns="0" tIns="0" rIns="0" bIns="0" rtlCol="0" anchor="ctr"/>
          <a:lstStyle/>
          <a:p>
            <a:pPr marL="0" indent="0" algn="ctr">
              <a:buNone/>
            </a:pPr>
            <a:r>
              <a:rPr lang="es-ES" sz="1600" i="1" noProof="0">
                <a:solidFill>
                  <a:srgbClr val="4472C4"/>
                </a:solidFill>
                <a:latin typeface="Consolas" pitchFamily="34" charset="0"/>
                <a:ea typeface="Consolas" pitchFamily="34" charset="-122"/>
                <a:cs typeface="Consolas" pitchFamily="34" charset="-120"/>
              </a:rPr>
              <a:t>Ofrecimiento a AMAFE — el veto es suyo.</a:t>
            </a:r>
            <a:endParaRPr lang="es-ES" sz="1600" noProof="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dirty="0">
                <a:solidFill>
                  <a:srgbClr val="4472C4"/>
                </a:solidFill>
                <a:latin typeface="Consolas" pitchFamily="34" charset="0"/>
                <a:ea typeface="Consolas" pitchFamily="34" charset="-122"/>
                <a:cs typeface="Consolas" pitchFamily="34" charset="-120"/>
              </a:rPr>
              <a:t>VÍDEOS Y CAPTURAS DE PANTALLA</a:t>
            </a:r>
            <a:endParaRPr lang="es-ES" sz="2400" noProof="0" dirty="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Demo offline</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a:solidFill>
                  <a:srgbClr val="6B7280"/>
                </a:solidFill>
                <a:latin typeface="Consolas" pitchFamily="34" charset="0"/>
                <a:ea typeface="Consolas" pitchFamily="34" charset="-122"/>
                <a:cs typeface="Consolas" pitchFamily="34" charset="-120"/>
              </a:rPr>
              <a:t>10 </a:t>
            </a:r>
            <a:r>
              <a:rPr lang="es-ES" sz="1600" noProof="0" dirty="0">
                <a:solidFill>
                  <a:srgbClr val="6B7280"/>
                </a:solidFill>
                <a:latin typeface="Consolas" pitchFamily="34" charset="0"/>
                <a:ea typeface="Consolas" pitchFamily="34" charset="-122"/>
                <a:cs typeface="Consolas" pitchFamily="34" charset="-120"/>
              </a:rPr>
              <a:t>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8640" y="1371600"/>
            <a:ext cx="5349240"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6" name="Text 4"/>
          <p:cNvSpPr/>
          <p:nvPr/>
        </p:nvSpPr>
        <p:spPr>
          <a:xfrm>
            <a:off x="777240" y="1554480"/>
            <a:ext cx="4892040" cy="594360"/>
          </a:xfrm>
          <a:prstGeom prst="rect">
            <a:avLst/>
          </a:prstGeom>
          <a:noFill/>
          <a:ln/>
        </p:spPr>
        <p:txBody>
          <a:bodyPr wrap="square" lIns="0" tIns="0" rIns="0" bIns="0" rtlCol="0" anchor="ctr"/>
          <a:lstStyle/>
          <a:p>
            <a:pPr marL="0" indent="0" algn="ctr">
              <a:lnSpc>
                <a:spcPct val="105000"/>
              </a:lnSpc>
              <a:buNone/>
            </a:pPr>
            <a:r>
              <a:rPr lang="es-ES" sz="1500" b="1" noProof="0" dirty="0">
                <a:solidFill>
                  <a:srgbClr val="4472C4"/>
                </a:solidFill>
                <a:latin typeface="Consolas" pitchFamily="34" charset="0"/>
                <a:ea typeface="Consolas" pitchFamily="34" charset="-122"/>
                <a:cs typeface="Consolas" pitchFamily="34" charset="-120"/>
              </a:rPr>
              <a:t>Respuesta con fuentes — «¿Qué es el Espacio Joven?»</a:t>
            </a:r>
            <a:endParaRPr lang="es-ES" sz="1500" noProof="0" dirty="0"/>
          </a:p>
        </p:txBody>
      </p:sp>
      <p:sp>
        <p:nvSpPr>
          <p:cNvPr id="7" name="Text 5"/>
          <p:cNvSpPr/>
          <p:nvPr/>
        </p:nvSpPr>
        <p:spPr>
          <a:xfrm>
            <a:off x="548640" y="2606040"/>
            <a:ext cx="5349240" cy="365760"/>
          </a:xfrm>
          <a:prstGeom prst="rect">
            <a:avLst/>
          </a:prstGeom>
          <a:noFill/>
          <a:ln/>
        </p:spPr>
        <p:txBody>
          <a:bodyPr wrap="square" lIns="0" tIns="0" rIns="0" bIns="0" rtlCol="0" anchor="ctr"/>
          <a:lstStyle/>
          <a:p>
            <a:pPr marL="0" indent="0" algn="ctr">
              <a:buNone/>
            </a:pPr>
            <a:r>
              <a:rPr lang="es-ES" sz="1500" noProof="0" dirty="0">
                <a:hlinkClick r:id="rId3" action="ppaction://hlinkfile"/>
              </a:rPr>
              <a:t>1-StreamlitCloud.na.20260728001540M.mp4</a:t>
            </a:r>
            <a:endParaRPr lang="es-ES" sz="1500" noProof="0" dirty="0"/>
          </a:p>
          <a:p>
            <a:pPr marL="0" indent="0" algn="ctr">
              <a:buNone/>
            </a:pPr>
            <a:endParaRPr lang="es-ES" sz="1500" dirty="0"/>
          </a:p>
          <a:p>
            <a:pPr marL="0" indent="0" algn="ctr">
              <a:buNone/>
            </a:pPr>
            <a:r>
              <a:rPr lang="es-ES" sz="1500" noProof="0" dirty="0">
                <a:hlinkClick r:id="rId4" action="ppaction://hlinkfile"/>
              </a:rPr>
              <a:t>1-HuggingFace.na.20260728001541M.mp4</a:t>
            </a:r>
            <a:endParaRPr lang="es-ES" sz="1500" noProof="0" dirty="0"/>
          </a:p>
        </p:txBody>
      </p:sp>
      <p:sp>
        <p:nvSpPr>
          <p:cNvPr id="8" name="Shape 6"/>
          <p:cNvSpPr/>
          <p:nvPr/>
        </p:nvSpPr>
        <p:spPr>
          <a:xfrm>
            <a:off x="6291072" y="1371600"/>
            <a:ext cx="5349240"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9" name="Text 7"/>
          <p:cNvSpPr/>
          <p:nvPr/>
        </p:nvSpPr>
        <p:spPr>
          <a:xfrm>
            <a:off x="6519672" y="1554480"/>
            <a:ext cx="4892040" cy="594360"/>
          </a:xfrm>
          <a:prstGeom prst="rect">
            <a:avLst/>
          </a:prstGeom>
          <a:noFill/>
          <a:ln/>
        </p:spPr>
        <p:txBody>
          <a:bodyPr wrap="square" lIns="0" tIns="0" rIns="0" bIns="0" rtlCol="0" anchor="ctr"/>
          <a:lstStyle/>
          <a:p>
            <a:pPr marL="0" indent="0" algn="ctr">
              <a:lnSpc>
                <a:spcPct val="105000"/>
              </a:lnSpc>
              <a:buNone/>
            </a:pPr>
            <a:r>
              <a:rPr lang="es-ES" sz="1500" b="1" noProof="0" dirty="0">
                <a:solidFill>
                  <a:srgbClr val="4472C4"/>
                </a:solidFill>
                <a:latin typeface="Consolas" pitchFamily="34" charset="0"/>
                <a:ea typeface="Consolas" pitchFamily="34" charset="-122"/>
                <a:cs typeface="Consolas" pitchFamily="34" charset="-120"/>
              </a:rPr>
              <a:t>«No lo sé» — «¿Qué se expone en el Museo del Prado?»</a:t>
            </a:r>
            <a:endParaRPr lang="es-ES" sz="1500" noProof="0" dirty="0"/>
          </a:p>
        </p:txBody>
      </p:sp>
      <p:sp>
        <p:nvSpPr>
          <p:cNvPr id="10" name="Text 8"/>
          <p:cNvSpPr/>
          <p:nvPr/>
        </p:nvSpPr>
        <p:spPr>
          <a:xfrm>
            <a:off x="6291072" y="2606040"/>
            <a:ext cx="5349240" cy="365760"/>
          </a:xfrm>
          <a:prstGeom prst="rect">
            <a:avLst/>
          </a:prstGeom>
          <a:noFill/>
          <a:ln/>
        </p:spPr>
        <p:txBody>
          <a:bodyPr wrap="square" lIns="0" tIns="0" rIns="0" bIns="0" rtlCol="0" anchor="ctr"/>
          <a:lstStyle/>
          <a:p>
            <a:pPr marL="0" indent="0" algn="ctr">
              <a:buNone/>
            </a:pPr>
            <a:r>
              <a:rPr lang="es-ES" sz="1500" noProof="0" dirty="0">
                <a:hlinkClick r:id="rId5" action="ppaction://hlinkfile"/>
              </a:rPr>
              <a:t>2-StreamlitCloud.na.20260728001542M.mp4</a:t>
            </a:r>
            <a:endParaRPr lang="es-ES" sz="1500" noProof="0" dirty="0"/>
          </a:p>
          <a:p>
            <a:pPr marL="0" indent="0" algn="ctr">
              <a:buNone/>
            </a:pPr>
            <a:endParaRPr lang="es-ES" sz="1500" dirty="0"/>
          </a:p>
          <a:p>
            <a:pPr marL="0" indent="0" algn="ctr">
              <a:buNone/>
            </a:pPr>
            <a:r>
              <a:rPr lang="es-ES" sz="1500" noProof="0" dirty="0">
                <a:hlinkClick r:id="rId6" action="ppaction://hlinkfile"/>
              </a:rPr>
              <a:t>2-HuggingFace.na.20260728001544M.mp4</a:t>
            </a:r>
            <a:endParaRPr lang="es-ES" sz="1500" noProof="0" dirty="0"/>
          </a:p>
        </p:txBody>
      </p:sp>
      <p:sp>
        <p:nvSpPr>
          <p:cNvPr id="11" name="Shape 9"/>
          <p:cNvSpPr/>
          <p:nvPr/>
        </p:nvSpPr>
        <p:spPr>
          <a:xfrm>
            <a:off x="548640" y="3794760"/>
            <a:ext cx="5349240"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12" name="Text 10"/>
          <p:cNvSpPr/>
          <p:nvPr/>
        </p:nvSpPr>
        <p:spPr>
          <a:xfrm>
            <a:off x="777240" y="3977640"/>
            <a:ext cx="4892040" cy="594360"/>
          </a:xfrm>
          <a:prstGeom prst="rect">
            <a:avLst/>
          </a:prstGeom>
          <a:noFill/>
          <a:ln/>
        </p:spPr>
        <p:txBody>
          <a:bodyPr wrap="square" lIns="0" tIns="0" rIns="0" bIns="0" rtlCol="0" anchor="ctr"/>
          <a:lstStyle/>
          <a:p>
            <a:pPr marL="0" indent="0" algn="ctr">
              <a:lnSpc>
                <a:spcPct val="105000"/>
              </a:lnSpc>
              <a:buNone/>
            </a:pPr>
            <a:r>
              <a:rPr lang="es-ES" sz="1500" b="1" noProof="0" dirty="0">
                <a:solidFill>
                  <a:srgbClr val="4472C4"/>
                </a:solidFill>
                <a:latin typeface="Consolas" pitchFamily="34" charset="0"/>
                <a:ea typeface="Consolas" pitchFamily="34" charset="-122"/>
                <a:cs typeface="Consolas" pitchFamily="34" charset="-120"/>
              </a:rPr>
              <a:t>Despliegue 1 — Streamlit </a:t>
            </a:r>
            <a:r>
              <a:rPr lang="es-ES" sz="1500" b="1" noProof="0" dirty="0" err="1">
                <a:solidFill>
                  <a:srgbClr val="4472C4"/>
                </a:solidFill>
                <a:latin typeface="Consolas" pitchFamily="34" charset="0"/>
                <a:ea typeface="Consolas" pitchFamily="34" charset="-122"/>
                <a:cs typeface="Consolas" pitchFamily="34" charset="-120"/>
              </a:rPr>
              <a:t>Community</a:t>
            </a:r>
            <a:r>
              <a:rPr lang="es-ES" sz="1500" b="1" noProof="0" dirty="0">
                <a:solidFill>
                  <a:srgbClr val="4472C4"/>
                </a:solidFill>
                <a:latin typeface="Consolas" pitchFamily="34" charset="0"/>
                <a:ea typeface="Consolas" pitchFamily="34" charset="-122"/>
                <a:cs typeface="Consolas" pitchFamily="34" charset="-120"/>
              </a:rPr>
              <a:t> Cloud</a:t>
            </a:r>
            <a:endParaRPr lang="es-ES" sz="1500" noProof="0" dirty="0"/>
          </a:p>
        </p:txBody>
      </p:sp>
      <p:sp>
        <p:nvSpPr>
          <p:cNvPr id="13" name="Text 11"/>
          <p:cNvSpPr/>
          <p:nvPr/>
        </p:nvSpPr>
        <p:spPr>
          <a:xfrm>
            <a:off x="548640" y="5029200"/>
            <a:ext cx="5349240" cy="365760"/>
          </a:xfrm>
          <a:prstGeom prst="rect">
            <a:avLst/>
          </a:prstGeom>
          <a:noFill/>
          <a:ln/>
        </p:spPr>
        <p:txBody>
          <a:bodyPr wrap="square" lIns="0" tIns="0" rIns="0" bIns="0" rtlCol="0" anchor="ctr"/>
          <a:lstStyle/>
          <a:p>
            <a:pPr marL="0" indent="0" algn="ctr">
              <a:buNone/>
            </a:pPr>
            <a:r>
              <a:rPr lang="es-ES" sz="1500" noProof="0" dirty="0">
                <a:hlinkClick r:id="rId7" action="ppaction://hlinkfile"/>
              </a:rPr>
              <a:t>StreamlitCloud.despliegue.20260728002849M.png</a:t>
            </a:r>
            <a:endParaRPr lang="es-ES" sz="1500" noProof="0" dirty="0"/>
          </a:p>
        </p:txBody>
      </p:sp>
      <p:sp>
        <p:nvSpPr>
          <p:cNvPr id="14" name="Shape 12"/>
          <p:cNvSpPr/>
          <p:nvPr/>
        </p:nvSpPr>
        <p:spPr>
          <a:xfrm>
            <a:off x="6291072" y="3794760"/>
            <a:ext cx="5349240" cy="2240280"/>
          </a:xfrm>
          <a:prstGeom prst="roundRect">
            <a:avLst>
              <a:gd name="adj" fmla="val 2449"/>
            </a:avLst>
          </a:prstGeom>
          <a:solidFill>
            <a:srgbClr val="DEEBF7"/>
          </a:solidFill>
          <a:ln w="9525">
            <a:solidFill>
              <a:srgbClr val="CFD8DC"/>
            </a:solidFill>
            <a:prstDash val="solid"/>
          </a:ln>
        </p:spPr>
        <p:txBody>
          <a:bodyPr/>
          <a:lstStyle/>
          <a:p>
            <a:endParaRPr lang="es-ES" noProof="0" dirty="0"/>
          </a:p>
        </p:txBody>
      </p:sp>
      <p:sp>
        <p:nvSpPr>
          <p:cNvPr id="15" name="Text 13"/>
          <p:cNvSpPr/>
          <p:nvPr/>
        </p:nvSpPr>
        <p:spPr>
          <a:xfrm>
            <a:off x="6519672" y="3977640"/>
            <a:ext cx="4892040" cy="594360"/>
          </a:xfrm>
          <a:prstGeom prst="rect">
            <a:avLst/>
          </a:prstGeom>
          <a:noFill/>
          <a:ln/>
        </p:spPr>
        <p:txBody>
          <a:bodyPr wrap="square" lIns="0" tIns="0" rIns="0" bIns="0" rtlCol="0" anchor="ctr"/>
          <a:lstStyle/>
          <a:p>
            <a:pPr marL="0" indent="0" algn="ctr">
              <a:lnSpc>
                <a:spcPct val="105000"/>
              </a:lnSpc>
              <a:buNone/>
            </a:pPr>
            <a:r>
              <a:rPr lang="es-ES" sz="1500" b="1" noProof="0" dirty="0">
                <a:solidFill>
                  <a:srgbClr val="4472C4"/>
                </a:solidFill>
                <a:latin typeface="Consolas" pitchFamily="34" charset="0"/>
                <a:ea typeface="Consolas" pitchFamily="34" charset="-122"/>
                <a:cs typeface="Consolas" pitchFamily="34" charset="-120"/>
              </a:rPr>
              <a:t>Despliegue 2 — Hugging Face Spaces (Docker)</a:t>
            </a:r>
            <a:endParaRPr lang="es-ES" sz="1500" noProof="0" dirty="0"/>
          </a:p>
        </p:txBody>
      </p:sp>
      <p:sp>
        <p:nvSpPr>
          <p:cNvPr id="16" name="Text 14"/>
          <p:cNvSpPr/>
          <p:nvPr/>
        </p:nvSpPr>
        <p:spPr>
          <a:xfrm>
            <a:off x="6291072" y="5029200"/>
            <a:ext cx="5349240" cy="365760"/>
          </a:xfrm>
          <a:prstGeom prst="rect">
            <a:avLst/>
          </a:prstGeom>
          <a:noFill/>
          <a:ln/>
        </p:spPr>
        <p:txBody>
          <a:bodyPr wrap="square" lIns="0" tIns="0" rIns="0" bIns="0" rtlCol="0" anchor="ctr"/>
          <a:lstStyle/>
          <a:p>
            <a:pPr marL="0" indent="0" algn="ctr">
              <a:buNone/>
            </a:pPr>
            <a:r>
              <a:rPr lang="es-ES" sz="1500" noProof="0" dirty="0">
                <a:hlinkClick r:id="rId8" action="ppaction://hlinkfile"/>
              </a:rPr>
              <a:t>HuggingFace.despliegue.20260728002910M.png</a:t>
            </a:r>
            <a:endParaRPr lang="es-ES" sz="15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DEMOSTRACIÓN</a:t>
            </a:r>
            <a:endParaRPr lang="es-ES" sz="2400" noProof="0"/>
          </a:p>
        </p:txBody>
      </p:sp>
      <p:sp>
        <p:nvSpPr>
          <p:cNvPr id="3" name="Text 1"/>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Demo en vivo</a:t>
            </a:r>
            <a:endParaRPr lang="es-ES" sz="2700" noProof="0" dirty="0"/>
          </a:p>
        </p:txBody>
      </p:sp>
      <p:sp>
        <p:nvSpPr>
          <p:cNvPr id="4" name="Text 2"/>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a:solidFill>
                  <a:srgbClr val="6B7280"/>
                </a:solidFill>
                <a:latin typeface="Consolas" pitchFamily="34" charset="0"/>
                <a:ea typeface="Consolas" pitchFamily="34" charset="-122"/>
                <a:cs typeface="Consolas" pitchFamily="34" charset="-120"/>
              </a:rPr>
              <a:t>11 </a:t>
            </a:r>
            <a:r>
              <a:rPr lang="es-ES" sz="1600" noProof="0" dirty="0">
                <a:solidFill>
                  <a:srgbClr val="6B7280"/>
                </a:solidFill>
                <a:latin typeface="Consolas" pitchFamily="34" charset="0"/>
                <a:ea typeface="Consolas" pitchFamily="34" charset="-122"/>
                <a:cs typeface="Consolas" pitchFamily="34" charset="-120"/>
              </a:rPr>
              <a:t>de </a:t>
            </a:r>
            <a:r>
              <a:rPr lang="es-ES" sz="1600" noProof="0">
                <a:solidFill>
                  <a:srgbClr val="6B7280"/>
                </a:solidFill>
                <a:latin typeface="Consolas" pitchFamily="34" charset="0"/>
                <a:ea typeface="Consolas" pitchFamily="34" charset="-122"/>
                <a:cs typeface="Consolas" pitchFamily="34" charset="-120"/>
              </a:rPr>
              <a:t>12</a:t>
            </a:r>
            <a:endParaRPr lang="es-ES" sz="1600" noProof="0" dirty="0"/>
          </a:p>
        </p:txBody>
      </p:sp>
      <p:sp>
        <p:nvSpPr>
          <p:cNvPr id="5" name="Shape 3"/>
          <p:cNvSpPr/>
          <p:nvPr/>
        </p:nvSpPr>
        <p:spPr>
          <a:xfrm>
            <a:off x="542880" y="3158001"/>
            <a:ext cx="5395836" cy="1420000"/>
          </a:xfrm>
          <a:prstGeom prst="roundRect">
            <a:avLst>
              <a:gd name="adj" fmla="val 5455"/>
            </a:avLst>
          </a:prstGeom>
          <a:solidFill>
            <a:srgbClr val="DEEBF7"/>
          </a:solidFill>
          <a:ln w="9525">
            <a:solidFill>
              <a:srgbClr val="CFD8DC"/>
            </a:solidFill>
            <a:prstDash val="solid"/>
          </a:ln>
        </p:spPr>
        <p:txBody>
          <a:bodyPr/>
          <a:lstStyle/>
          <a:p>
            <a:endParaRPr lang="es-ES" noProof="0" dirty="0"/>
          </a:p>
        </p:txBody>
      </p:sp>
      <p:sp>
        <p:nvSpPr>
          <p:cNvPr id="6" name="Shape 4"/>
          <p:cNvSpPr/>
          <p:nvPr/>
        </p:nvSpPr>
        <p:spPr>
          <a:xfrm>
            <a:off x="848640" y="3620000"/>
            <a:ext cx="520000" cy="520000"/>
          </a:xfrm>
          <a:prstGeom prst="ellipse">
            <a:avLst/>
          </a:prstGeom>
          <a:solidFill>
            <a:srgbClr val="4472C4"/>
          </a:solidFill>
          <a:ln w="6350">
            <a:solidFill>
              <a:srgbClr val="4472C4"/>
            </a:solidFill>
            <a:prstDash val="solid"/>
          </a:ln>
        </p:spPr>
        <p:txBody>
          <a:bodyPr/>
          <a:lstStyle/>
          <a:p>
            <a:endParaRPr lang="es-ES" noProof="0" dirty="0"/>
          </a:p>
        </p:txBody>
      </p:sp>
      <p:sp>
        <p:nvSpPr>
          <p:cNvPr id="7" name="Text 5"/>
          <p:cNvSpPr/>
          <p:nvPr/>
        </p:nvSpPr>
        <p:spPr>
          <a:xfrm>
            <a:off x="848640" y="3620000"/>
            <a:ext cx="520000" cy="520000"/>
          </a:xfrm>
          <a:prstGeom prst="rect">
            <a:avLst/>
          </a:prstGeom>
          <a:noFill/>
          <a:ln/>
        </p:spPr>
        <p:txBody>
          <a:bodyPr wrap="square" lIns="0" tIns="0" rIns="0" bIns="0" rtlCol="0" anchor="ctr"/>
          <a:lstStyle/>
          <a:p>
            <a:pPr marL="0" indent="0" algn="ctr">
              <a:buNone/>
            </a:pPr>
            <a:r>
              <a:rPr lang="es-ES" sz="2000" b="1" noProof="0" dirty="0">
                <a:solidFill>
                  <a:srgbClr val="FFFFFF"/>
                </a:solidFill>
                <a:latin typeface="Consolas" pitchFamily="34" charset="0"/>
                <a:ea typeface="Consolas" pitchFamily="34" charset="-122"/>
                <a:cs typeface="Consolas" pitchFamily="34" charset="-120"/>
              </a:rPr>
              <a:t>1</a:t>
            </a:r>
            <a:endParaRPr lang="es-ES" sz="2000" noProof="0" dirty="0"/>
          </a:p>
        </p:txBody>
      </p:sp>
      <p:sp>
        <p:nvSpPr>
          <p:cNvPr id="8" name="Text 6"/>
          <p:cNvSpPr/>
          <p:nvPr/>
        </p:nvSpPr>
        <p:spPr>
          <a:xfrm>
            <a:off x="1548640" y="3170000"/>
            <a:ext cx="4145836" cy="1420000"/>
          </a:xfrm>
          <a:prstGeom prst="rect">
            <a:avLst/>
          </a:prstGeom>
          <a:noFill/>
          <a:ln/>
        </p:spPr>
        <p:txBody>
          <a:bodyPr wrap="square" lIns="0" tIns="0" rIns="0" bIns="0" rtlCol="0" anchor="ctr"/>
          <a:lstStyle/>
          <a:p>
            <a:pPr marL="0" indent="0">
              <a:buNone/>
            </a:pPr>
            <a:r>
              <a:rPr lang="es-ES" sz="2000" b="1" noProof="0" dirty="0">
                <a:solidFill>
                  <a:srgbClr val="1A2A33"/>
                </a:solidFill>
                <a:latin typeface="Consolas" pitchFamily="34" charset="0"/>
                <a:ea typeface="Consolas" pitchFamily="34" charset="-122"/>
                <a:cs typeface="Consolas" pitchFamily="34" charset="-120"/>
              </a:rPr>
              <a:t>¿Qué es el Espacio Joven?</a:t>
            </a:r>
            <a:endParaRPr lang="es-ES" sz="2000" noProof="0" dirty="0"/>
          </a:p>
        </p:txBody>
      </p:sp>
      <p:sp>
        <p:nvSpPr>
          <p:cNvPr id="9" name="Shape 7"/>
          <p:cNvSpPr/>
          <p:nvPr/>
        </p:nvSpPr>
        <p:spPr>
          <a:xfrm>
            <a:off x="6244476" y="3170000"/>
            <a:ext cx="5395836" cy="1420000"/>
          </a:xfrm>
          <a:prstGeom prst="roundRect">
            <a:avLst>
              <a:gd name="adj" fmla="val 5455"/>
            </a:avLst>
          </a:prstGeom>
          <a:solidFill>
            <a:srgbClr val="DEEBF7"/>
          </a:solidFill>
          <a:ln w="9525">
            <a:solidFill>
              <a:srgbClr val="CFD8DC"/>
            </a:solidFill>
            <a:prstDash val="solid"/>
          </a:ln>
        </p:spPr>
        <p:txBody>
          <a:bodyPr/>
          <a:lstStyle/>
          <a:p>
            <a:endParaRPr lang="es-ES" noProof="0" dirty="0"/>
          </a:p>
        </p:txBody>
      </p:sp>
      <p:sp>
        <p:nvSpPr>
          <p:cNvPr id="10" name="Shape 8"/>
          <p:cNvSpPr/>
          <p:nvPr/>
        </p:nvSpPr>
        <p:spPr>
          <a:xfrm>
            <a:off x="6544476" y="3620000"/>
            <a:ext cx="520000" cy="520000"/>
          </a:xfrm>
          <a:prstGeom prst="ellipse">
            <a:avLst/>
          </a:prstGeom>
          <a:solidFill>
            <a:srgbClr val="4472C4"/>
          </a:solidFill>
          <a:ln w="6350">
            <a:solidFill>
              <a:srgbClr val="4472C4"/>
            </a:solidFill>
            <a:prstDash val="solid"/>
          </a:ln>
        </p:spPr>
        <p:txBody>
          <a:bodyPr/>
          <a:lstStyle/>
          <a:p>
            <a:endParaRPr lang="es-ES" noProof="0" dirty="0"/>
          </a:p>
        </p:txBody>
      </p:sp>
      <p:sp>
        <p:nvSpPr>
          <p:cNvPr id="11" name="Text 9"/>
          <p:cNvSpPr/>
          <p:nvPr/>
        </p:nvSpPr>
        <p:spPr>
          <a:xfrm>
            <a:off x="6544476" y="3620000"/>
            <a:ext cx="520000" cy="520000"/>
          </a:xfrm>
          <a:prstGeom prst="rect">
            <a:avLst/>
          </a:prstGeom>
          <a:noFill/>
          <a:ln/>
        </p:spPr>
        <p:txBody>
          <a:bodyPr wrap="square" lIns="0" tIns="0" rIns="0" bIns="0" rtlCol="0" anchor="ctr"/>
          <a:lstStyle/>
          <a:p>
            <a:pPr marL="0" indent="0" algn="ctr">
              <a:buNone/>
            </a:pPr>
            <a:r>
              <a:rPr lang="es-ES" sz="2000" b="1" noProof="0" dirty="0">
                <a:solidFill>
                  <a:srgbClr val="FFFFFF"/>
                </a:solidFill>
                <a:latin typeface="Consolas" pitchFamily="34" charset="0"/>
                <a:ea typeface="Consolas" pitchFamily="34" charset="-122"/>
                <a:cs typeface="Consolas" pitchFamily="34" charset="-120"/>
              </a:rPr>
              <a:t>2</a:t>
            </a:r>
            <a:endParaRPr lang="es-ES" sz="2000" noProof="0" dirty="0"/>
          </a:p>
        </p:txBody>
      </p:sp>
      <p:sp>
        <p:nvSpPr>
          <p:cNvPr id="12" name="Text 10"/>
          <p:cNvSpPr/>
          <p:nvPr/>
        </p:nvSpPr>
        <p:spPr>
          <a:xfrm>
            <a:off x="7244476" y="3170000"/>
            <a:ext cx="4145836" cy="1420000"/>
          </a:xfrm>
          <a:prstGeom prst="rect">
            <a:avLst/>
          </a:prstGeom>
          <a:noFill/>
          <a:ln/>
        </p:spPr>
        <p:txBody>
          <a:bodyPr wrap="square" lIns="0" tIns="0" rIns="0" bIns="0" rtlCol="0" anchor="ctr"/>
          <a:lstStyle/>
          <a:p>
            <a:pPr marL="0" indent="0">
              <a:buNone/>
            </a:pPr>
            <a:r>
              <a:rPr lang="es-ES" sz="2000" b="1" noProof="0" dirty="0">
                <a:solidFill>
                  <a:srgbClr val="1A2A33"/>
                </a:solidFill>
                <a:latin typeface="Consolas" pitchFamily="34" charset="0"/>
                <a:ea typeface="Consolas" pitchFamily="34" charset="-122"/>
                <a:cs typeface="Consolas" pitchFamily="34" charset="-120"/>
              </a:rPr>
              <a:t>¿Cómo puedo pedir cita?</a:t>
            </a:r>
            <a:endParaRPr lang="es-ES" sz="2000" noProof="0" dirty="0"/>
          </a:p>
        </p:txBody>
      </p:sp>
      <p:sp>
        <p:nvSpPr>
          <p:cNvPr id="13" name="Shape 11"/>
          <p:cNvSpPr/>
          <p:nvPr/>
        </p:nvSpPr>
        <p:spPr>
          <a:xfrm>
            <a:off x="548640" y="4790000"/>
            <a:ext cx="5395836" cy="1420000"/>
          </a:xfrm>
          <a:prstGeom prst="roundRect">
            <a:avLst>
              <a:gd name="adj" fmla="val 5455"/>
            </a:avLst>
          </a:prstGeom>
          <a:solidFill>
            <a:srgbClr val="FBEEE6"/>
          </a:solidFill>
          <a:ln w="9525">
            <a:solidFill>
              <a:srgbClr val="CFD8DC"/>
            </a:solidFill>
            <a:prstDash val="solid"/>
          </a:ln>
        </p:spPr>
        <p:txBody>
          <a:bodyPr/>
          <a:lstStyle/>
          <a:p>
            <a:endParaRPr lang="es-ES" noProof="0" dirty="0"/>
          </a:p>
        </p:txBody>
      </p:sp>
      <p:sp>
        <p:nvSpPr>
          <p:cNvPr id="14" name="Shape 12"/>
          <p:cNvSpPr/>
          <p:nvPr/>
        </p:nvSpPr>
        <p:spPr>
          <a:xfrm>
            <a:off x="848640" y="5240000"/>
            <a:ext cx="520000" cy="520000"/>
          </a:xfrm>
          <a:prstGeom prst="ellipse">
            <a:avLst/>
          </a:prstGeom>
          <a:solidFill>
            <a:srgbClr val="C2410C"/>
          </a:solidFill>
          <a:ln w="6350">
            <a:solidFill>
              <a:srgbClr val="C2410C"/>
            </a:solidFill>
            <a:prstDash val="solid"/>
          </a:ln>
        </p:spPr>
        <p:txBody>
          <a:bodyPr/>
          <a:lstStyle/>
          <a:p>
            <a:endParaRPr lang="es-ES" noProof="0" dirty="0"/>
          </a:p>
        </p:txBody>
      </p:sp>
      <p:sp>
        <p:nvSpPr>
          <p:cNvPr id="15" name="Text 13"/>
          <p:cNvSpPr/>
          <p:nvPr/>
        </p:nvSpPr>
        <p:spPr>
          <a:xfrm>
            <a:off x="848640" y="5240000"/>
            <a:ext cx="520000" cy="520000"/>
          </a:xfrm>
          <a:prstGeom prst="rect">
            <a:avLst/>
          </a:prstGeom>
          <a:noFill/>
          <a:ln/>
        </p:spPr>
        <p:txBody>
          <a:bodyPr wrap="square" lIns="0" tIns="0" rIns="0" bIns="0" rtlCol="0" anchor="ctr"/>
          <a:lstStyle/>
          <a:p>
            <a:pPr marL="0" indent="0" algn="ctr">
              <a:buNone/>
            </a:pPr>
            <a:r>
              <a:rPr lang="es-ES" sz="2000" b="1" noProof="0" dirty="0">
                <a:solidFill>
                  <a:srgbClr val="FFFFFF"/>
                </a:solidFill>
                <a:latin typeface="Consolas" pitchFamily="34" charset="0"/>
                <a:ea typeface="Consolas" pitchFamily="34" charset="-122"/>
                <a:cs typeface="Consolas" pitchFamily="34" charset="-120"/>
              </a:rPr>
              <a:t>3</a:t>
            </a:r>
            <a:endParaRPr lang="es-ES" sz="2000" noProof="0" dirty="0"/>
          </a:p>
        </p:txBody>
      </p:sp>
      <p:sp>
        <p:nvSpPr>
          <p:cNvPr id="16" name="Text 14"/>
          <p:cNvSpPr/>
          <p:nvPr/>
        </p:nvSpPr>
        <p:spPr>
          <a:xfrm>
            <a:off x="1548640" y="4790000"/>
            <a:ext cx="4145836" cy="1420000"/>
          </a:xfrm>
          <a:prstGeom prst="rect">
            <a:avLst/>
          </a:prstGeom>
          <a:noFill/>
          <a:ln/>
        </p:spPr>
        <p:txBody>
          <a:bodyPr wrap="square" lIns="0" tIns="0" rIns="0" bIns="0" rtlCol="0" anchor="ctr"/>
          <a:lstStyle/>
          <a:p>
            <a:pPr marL="0" indent="0">
              <a:buNone/>
            </a:pPr>
            <a:r>
              <a:rPr lang="es-ES" sz="2000" b="1" noProof="0" dirty="0">
                <a:solidFill>
                  <a:srgbClr val="1A2A33"/>
                </a:solidFill>
                <a:latin typeface="Consolas" pitchFamily="34" charset="0"/>
                <a:ea typeface="Consolas" pitchFamily="34" charset="-122"/>
                <a:cs typeface="Consolas" pitchFamily="34" charset="-120"/>
              </a:rPr>
              <a:t>¿Qué información hay sobre auditorías?</a:t>
            </a:r>
            <a:endParaRPr lang="es-ES" sz="2000" noProof="0" dirty="0"/>
          </a:p>
        </p:txBody>
      </p:sp>
      <p:sp>
        <p:nvSpPr>
          <p:cNvPr id="17" name="Shape 15"/>
          <p:cNvSpPr/>
          <p:nvPr/>
        </p:nvSpPr>
        <p:spPr>
          <a:xfrm>
            <a:off x="6244476" y="4790000"/>
            <a:ext cx="5395836" cy="1420000"/>
          </a:xfrm>
          <a:prstGeom prst="roundRect">
            <a:avLst>
              <a:gd name="adj" fmla="val 5455"/>
            </a:avLst>
          </a:prstGeom>
          <a:solidFill>
            <a:srgbClr val="FBEEE6"/>
          </a:solidFill>
          <a:ln w="9525">
            <a:solidFill>
              <a:srgbClr val="CFD8DC"/>
            </a:solidFill>
            <a:prstDash val="solid"/>
          </a:ln>
        </p:spPr>
        <p:txBody>
          <a:bodyPr/>
          <a:lstStyle/>
          <a:p>
            <a:endParaRPr lang="es-ES" noProof="0" dirty="0"/>
          </a:p>
        </p:txBody>
      </p:sp>
      <p:sp>
        <p:nvSpPr>
          <p:cNvPr id="18" name="Shape 16"/>
          <p:cNvSpPr/>
          <p:nvPr/>
        </p:nvSpPr>
        <p:spPr>
          <a:xfrm>
            <a:off x="6544476" y="5240000"/>
            <a:ext cx="520000" cy="520000"/>
          </a:xfrm>
          <a:prstGeom prst="ellipse">
            <a:avLst/>
          </a:prstGeom>
          <a:solidFill>
            <a:srgbClr val="C2410C"/>
          </a:solidFill>
          <a:ln w="6350">
            <a:solidFill>
              <a:srgbClr val="C2410C"/>
            </a:solidFill>
            <a:prstDash val="solid"/>
          </a:ln>
        </p:spPr>
        <p:txBody>
          <a:bodyPr/>
          <a:lstStyle/>
          <a:p>
            <a:endParaRPr lang="es-ES" noProof="0" dirty="0"/>
          </a:p>
        </p:txBody>
      </p:sp>
      <p:sp>
        <p:nvSpPr>
          <p:cNvPr id="19" name="Text 17"/>
          <p:cNvSpPr/>
          <p:nvPr/>
        </p:nvSpPr>
        <p:spPr>
          <a:xfrm>
            <a:off x="6544476" y="5240000"/>
            <a:ext cx="520000" cy="520000"/>
          </a:xfrm>
          <a:prstGeom prst="rect">
            <a:avLst/>
          </a:prstGeom>
          <a:noFill/>
          <a:ln/>
        </p:spPr>
        <p:txBody>
          <a:bodyPr wrap="square" lIns="0" tIns="0" rIns="0" bIns="0" rtlCol="0" anchor="ctr"/>
          <a:lstStyle/>
          <a:p>
            <a:pPr marL="0" indent="0" algn="ctr">
              <a:buNone/>
            </a:pPr>
            <a:r>
              <a:rPr lang="es-ES" sz="2000" b="1" noProof="0" dirty="0">
                <a:solidFill>
                  <a:srgbClr val="FFFFFF"/>
                </a:solidFill>
                <a:latin typeface="Consolas" pitchFamily="34" charset="0"/>
                <a:ea typeface="Consolas" pitchFamily="34" charset="-122"/>
                <a:cs typeface="Consolas" pitchFamily="34" charset="-120"/>
              </a:rPr>
              <a:t>4</a:t>
            </a:r>
            <a:endParaRPr lang="es-ES" sz="2000" noProof="0" dirty="0"/>
          </a:p>
        </p:txBody>
      </p:sp>
      <p:sp>
        <p:nvSpPr>
          <p:cNvPr id="20" name="Text 18"/>
          <p:cNvSpPr/>
          <p:nvPr/>
        </p:nvSpPr>
        <p:spPr>
          <a:xfrm>
            <a:off x="7244476" y="4790000"/>
            <a:ext cx="4145836" cy="1420000"/>
          </a:xfrm>
          <a:prstGeom prst="rect">
            <a:avLst/>
          </a:prstGeom>
          <a:noFill/>
          <a:ln/>
        </p:spPr>
        <p:txBody>
          <a:bodyPr wrap="square" lIns="0" tIns="0" rIns="0" bIns="0" rtlCol="0" anchor="ctr"/>
          <a:lstStyle/>
          <a:p>
            <a:pPr marL="0" indent="0">
              <a:buNone/>
            </a:pPr>
            <a:r>
              <a:rPr lang="es-ES" sz="2000" b="1" noProof="0" dirty="0">
                <a:solidFill>
                  <a:srgbClr val="1A2A33"/>
                </a:solidFill>
                <a:latin typeface="Consolas" pitchFamily="34" charset="0"/>
                <a:ea typeface="Consolas" pitchFamily="34" charset="-122"/>
                <a:cs typeface="Consolas" pitchFamily="34" charset="-120"/>
              </a:rPr>
              <a:t>¿Qué se expone en el Museo del Prado?</a:t>
            </a:r>
            <a:endParaRPr lang="es-ES" sz="2000" noProof="0" dirty="0"/>
          </a:p>
        </p:txBody>
      </p:sp>
      <p:sp>
        <p:nvSpPr>
          <p:cNvPr id="21" name="Shape 19"/>
          <p:cNvSpPr/>
          <p:nvPr/>
        </p:nvSpPr>
        <p:spPr>
          <a:xfrm>
            <a:off x="548640" y="1490000"/>
            <a:ext cx="11091672" cy="1500000"/>
          </a:xfrm>
          <a:prstGeom prst="roundRect">
            <a:avLst>
              <a:gd name="adj" fmla="val 5455"/>
            </a:avLst>
          </a:prstGeom>
          <a:solidFill>
            <a:srgbClr val="DEEBF7"/>
          </a:solidFill>
          <a:ln w="9525">
            <a:solidFill>
              <a:srgbClr val="CFD8DC"/>
            </a:solidFill>
            <a:prstDash val="solid"/>
          </a:ln>
        </p:spPr>
        <p:txBody>
          <a:bodyPr/>
          <a:lstStyle/>
          <a:p>
            <a:endParaRPr lang="es-ES" noProof="0"/>
          </a:p>
        </p:txBody>
      </p:sp>
      <p:sp>
        <p:nvSpPr>
          <p:cNvPr id="24" name="Text 22"/>
          <p:cNvSpPr/>
          <p:nvPr/>
        </p:nvSpPr>
        <p:spPr>
          <a:xfrm>
            <a:off x="908640" y="1540000"/>
            <a:ext cx="10371360" cy="1400000"/>
          </a:xfrm>
          <a:prstGeom prst="rect">
            <a:avLst/>
          </a:prstGeom>
          <a:noFill/>
          <a:ln/>
        </p:spPr>
        <p:txBody>
          <a:bodyPr wrap="square" lIns="0" tIns="0" rIns="0" bIns="0" rtlCol="0" anchor="ctr"/>
          <a:lstStyle/>
          <a:p>
            <a:pPr marL="0" indent="0">
              <a:buNone/>
            </a:pPr>
            <a:r>
              <a:rPr lang="es-ES" sz="2200" b="1" noProof="0" dirty="0">
                <a:solidFill>
                  <a:srgbClr val="1A2A33"/>
                </a:solidFill>
                <a:latin typeface="Consolas" pitchFamily="34" charset="0"/>
                <a:ea typeface="Consolas" pitchFamily="34" charset="-122"/>
                <a:cs typeface="Consolas" pitchFamily="34" charset="-120"/>
              </a:rPr>
              <a:t>Repositorio          </a:t>
            </a:r>
            <a:r>
              <a:rPr lang="es-ES" sz="2200" noProof="0" dirty="0">
                <a:solidFill>
                  <a:srgbClr val="4472C4"/>
                </a:solidFill>
                <a:latin typeface="Consolas" pitchFamily="34" charset="0"/>
                <a:ea typeface="Consolas" pitchFamily="34" charset="-122"/>
                <a:cs typeface="Consolas" pitchFamily="34" charset="-120"/>
                <a:hlinkClick r:id="rId3"/>
              </a:rPr>
              <a:t>github.com/Bootcamp-IA-P6/amafe-responde</a:t>
            </a:r>
            <a:endParaRPr lang="es-ES" sz="2200" noProof="0" dirty="0">
              <a:solidFill>
                <a:srgbClr val="4472C4"/>
              </a:solidFill>
              <a:latin typeface="Consolas" pitchFamily="34" charset="0"/>
              <a:ea typeface="Consolas" pitchFamily="34" charset="-122"/>
              <a:cs typeface="Consolas" pitchFamily="34" charset="-120"/>
            </a:endParaRPr>
          </a:p>
          <a:p>
            <a:pPr marL="0" indent="0">
              <a:buNone/>
            </a:pPr>
            <a:r>
              <a:rPr lang="es-ES" sz="2200" b="1" noProof="0" dirty="0">
                <a:solidFill>
                  <a:srgbClr val="1A2A33"/>
                </a:solidFill>
                <a:latin typeface="Consolas" pitchFamily="34" charset="0"/>
                <a:ea typeface="Consolas" pitchFamily="34" charset="-122"/>
                <a:cs typeface="Consolas" pitchFamily="34" charset="-120"/>
              </a:rPr>
              <a:t>Tablero Kanban       </a:t>
            </a:r>
            <a:r>
              <a:rPr lang="es-ES" sz="2200" noProof="0" dirty="0">
                <a:solidFill>
                  <a:srgbClr val="4472C4"/>
                </a:solidFill>
                <a:latin typeface="Consolas" pitchFamily="34" charset="0"/>
                <a:ea typeface="Consolas" pitchFamily="34" charset="-122"/>
                <a:cs typeface="Consolas" pitchFamily="34" charset="-120"/>
                <a:hlinkClick r:id="rId4"/>
              </a:rPr>
              <a:t>github.com/</a:t>
            </a:r>
            <a:r>
              <a:rPr lang="es-ES" sz="2200" noProof="0" dirty="0" err="1">
                <a:solidFill>
                  <a:srgbClr val="4472C4"/>
                </a:solidFill>
                <a:latin typeface="Consolas" pitchFamily="34" charset="0"/>
                <a:ea typeface="Consolas" pitchFamily="34" charset="-122"/>
                <a:cs typeface="Consolas" pitchFamily="34" charset="-120"/>
                <a:hlinkClick r:id="rId4"/>
              </a:rPr>
              <a:t>orgs</a:t>
            </a:r>
            <a:r>
              <a:rPr lang="es-ES" sz="2200" noProof="0" dirty="0">
                <a:solidFill>
                  <a:srgbClr val="4472C4"/>
                </a:solidFill>
                <a:latin typeface="Consolas" pitchFamily="34" charset="0"/>
                <a:ea typeface="Consolas" pitchFamily="34" charset="-122"/>
                <a:cs typeface="Consolas" pitchFamily="34" charset="-120"/>
                <a:hlinkClick r:id="rId4"/>
              </a:rPr>
              <a:t>/Bootcamp-IA-P6/</a:t>
            </a:r>
            <a:r>
              <a:rPr lang="es-ES" sz="2200" noProof="0" dirty="0" err="1">
                <a:solidFill>
                  <a:srgbClr val="4472C4"/>
                </a:solidFill>
                <a:latin typeface="Consolas" pitchFamily="34" charset="0"/>
                <a:ea typeface="Consolas" pitchFamily="34" charset="-122"/>
                <a:cs typeface="Consolas" pitchFamily="34" charset="-120"/>
                <a:hlinkClick r:id="rId4"/>
              </a:rPr>
              <a:t>projects</a:t>
            </a:r>
            <a:r>
              <a:rPr lang="es-ES" sz="2200" noProof="0" dirty="0">
                <a:solidFill>
                  <a:srgbClr val="4472C4"/>
                </a:solidFill>
                <a:latin typeface="Consolas" pitchFamily="34" charset="0"/>
                <a:ea typeface="Consolas" pitchFamily="34" charset="-122"/>
                <a:cs typeface="Consolas" pitchFamily="34" charset="-120"/>
                <a:hlinkClick r:id="rId4"/>
              </a:rPr>
              <a:t>/77</a:t>
            </a:r>
            <a:endParaRPr lang="es-ES" sz="2200" noProof="0" dirty="0">
              <a:solidFill>
                <a:srgbClr val="4472C4"/>
              </a:solidFill>
              <a:latin typeface="Consolas" pitchFamily="34" charset="0"/>
              <a:ea typeface="Consolas" pitchFamily="34" charset="-122"/>
              <a:cs typeface="Consolas" pitchFamily="34" charset="-120"/>
            </a:endParaRPr>
          </a:p>
          <a:p>
            <a:pPr marL="0" indent="0">
              <a:buNone/>
            </a:pPr>
            <a:r>
              <a:rPr lang="es-ES" sz="2200" b="1" noProof="0" dirty="0">
                <a:solidFill>
                  <a:srgbClr val="1A2A33"/>
                </a:solidFill>
                <a:latin typeface="Consolas" pitchFamily="34" charset="0"/>
                <a:ea typeface="Consolas" pitchFamily="34" charset="-122"/>
                <a:cs typeface="Consolas" pitchFamily="34" charset="-120"/>
              </a:rPr>
              <a:t>App en vivo          </a:t>
            </a:r>
            <a:r>
              <a:rPr lang="es-ES" sz="2200" noProof="0" dirty="0">
                <a:solidFill>
                  <a:srgbClr val="4472C4"/>
                </a:solidFill>
                <a:latin typeface="Consolas" pitchFamily="34" charset="0"/>
                <a:ea typeface="Consolas" pitchFamily="34" charset="-122"/>
                <a:cs typeface="Consolas" pitchFamily="34" charset="-120"/>
                <a:hlinkClick r:id="rId5"/>
              </a:rPr>
              <a:t>amafe-</a:t>
            </a:r>
            <a:r>
              <a:rPr lang="es-ES" sz="2200" noProof="0" dirty="0" err="1">
                <a:solidFill>
                  <a:srgbClr val="4472C4"/>
                </a:solidFill>
                <a:latin typeface="Consolas" pitchFamily="34" charset="0"/>
                <a:ea typeface="Consolas" pitchFamily="34" charset="-122"/>
                <a:cs typeface="Consolas" pitchFamily="34" charset="-120"/>
                <a:hlinkClick r:id="rId5"/>
              </a:rPr>
              <a:t>responde.streamlit.app</a:t>
            </a:r>
            <a:endParaRPr lang="es-ES" sz="2200" noProof="0" dirty="0">
              <a:solidFill>
                <a:srgbClr val="4472C4"/>
              </a:solidFill>
              <a:latin typeface="Consolas" pitchFamily="34" charset="0"/>
              <a:ea typeface="Consolas" pitchFamily="34" charset="-122"/>
              <a:cs typeface="Consolas" pitchFamily="34" charset="-120"/>
            </a:endParaRPr>
          </a:p>
          <a:p>
            <a:pPr marL="0" indent="0">
              <a:buNone/>
            </a:pPr>
            <a:r>
              <a:rPr lang="es-ES" sz="2200" b="1" noProof="0" dirty="0">
                <a:solidFill>
                  <a:srgbClr val="1A2A33"/>
                </a:solidFill>
                <a:latin typeface="Consolas" pitchFamily="34" charset="0"/>
                <a:ea typeface="Consolas" pitchFamily="34" charset="-122"/>
                <a:cs typeface="Consolas" pitchFamily="34" charset="-120"/>
              </a:rPr>
              <a:t>App en vivo (Docker) </a:t>
            </a:r>
            <a:r>
              <a:rPr lang="es-ES" sz="2200" noProof="0" dirty="0">
                <a:solidFill>
                  <a:srgbClr val="4472C4"/>
                </a:solidFill>
                <a:latin typeface="Consolas" pitchFamily="34" charset="0"/>
                <a:ea typeface="Consolas" pitchFamily="34" charset="-122"/>
                <a:cs typeface="Consolas" pitchFamily="34" charset="-120"/>
                <a:hlinkClick r:id="rId6"/>
              </a:rPr>
              <a:t>huggingface.co/</a:t>
            </a:r>
            <a:r>
              <a:rPr lang="es-ES" sz="2200" noProof="0" dirty="0" err="1">
                <a:solidFill>
                  <a:srgbClr val="4472C4"/>
                </a:solidFill>
                <a:latin typeface="Consolas" pitchFamily="34" charset="0"/>
                <a:ea typeface="Consolas" pitchFamily="34" charset="-122"/>
                <a:cs typeface="Consolas" pitchFamily="34" charset="-120"/>
                <a:hlinkClick r:id="rId6"/>
              </a:rPr>
              <a:t>spaces</a:t>
            </a:r>
            <a:r>
              <a:rPr lang="es-ES" sz="2200" noProof="0" dirty="0">
                <a:solidFill>
                  <a:srgbClr val="4472C4"/>
                </a:solidFill>
                <a:latin typeface="Consolas" pitchFamily="34" charset="0"/>
                <a:ea typeface="Consolas" pitchFamily="34" charset="-122"/>
                <a:cs typeface="Consolas" pitchFamily="34" charset="-120"/>
                <a:hlinkClick r:id="rId6"/>
              </a:rPr>
              <a:t>/JJRSE/amafe-responde</a:t>
            </a:r>
            <a:endParaRPr lang="es-ES" sz="2200" noProof="0" dirty="0">
              <a:solidFill>
                <a:srgbClr val="4472C4"/>
              </a:solidFill>
              <a:latin typeface="Consolas" pitchFamily="34" charset="0"/>
              <a:ea typeface="Consolas" pitchFamily="34" charset="-122"/>
              <a:cs typeface="Consolas" pitchFamily="34" charset="-12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p:nvPr/>
        </p:nvSpPr>
        <p:spPr>
          <a:xfrm>
            <a:off x="1524000" y="292608"/>
            <a:ext cx="9144000" cy="237744"/>
          </a:xfrm>
          <a:prstGeom prst="rect">
            <a:avLst/>
          </a:prstGeom>
          <a:noFill/>
          <a:ln/>
        </p:spPr>
        <p:txBody>
          <a:bodyPr wrap="square" lIns="0" tIns="0" rIns="0" bIns="0" rtlCol="0" anchor="ctr"/>
          <a:lstStyle/>
          <a:p>
            <a:pPr marL="0" indent="0" algn="ctr">
              <a:buNone/>
            </a:pPr>
            <a:r>
              <a:rPr lang="es-ES" sz="2400" b="1" kern="0" spc="160" noProof="0">
                <a:solidFill>
                  <a:srgbClr val="4472C4"/>
                </a:solidFill>
                <a:latin typeface="Consolas" pitchFamily="34" charset="0"/>
                <a:ea typeface="Consolas" pitchFamily="34" charset="-122"/>
                <a:cs typeface="Consolas" pitchFamily="34" charset="-120"/>
              </a:rPr>
              <a:t>ENLACES</a:t>
            </a:r>
            <a:endParaRPr lang="es-ES" sz="2400" noProof="0"/>
          </a:p>
        </p:txBody>
      </p:sp>
      <p:sp>
        <p:nvSpPr>
          <p:cNvPr id="3" name="Title"/>
          <p:cNvSpPr/>
          <p:nvPr/>
        </p:nvSpPr>
        <p:spPr>
          <a:xfrm>
            <a:off x="542880" y="720000"/>
            <a:ext cx="11091672" cy="548640"/>
          </a:xfrm>
          <a:prstGeom prst="rect">
            <a:avLst/>
          </a:prstGeom>
          <a:noFill/>
          <a:ln/>
        </p:spPr>
        <p:txBody>
          <a:bodyPr wrap="square" lIns="0" tIns="0" rIns="0" bIns="0" rtlCol="0" anchor="ctr"/>
          <a:lstStyle/>
          <a:p>
            <a:pPr marL="0" indent="0" algn="ctr">
              <a:buNone/>
            </a:pPr>
            <a:r>
              <a:rPr lang="es-ES" sz="2700" b="1" noProof="0" dirty="0">
                <a:solidFill>
                  <a:srgbClr val="1A2A33"/>
                </a:solidFill>
                <a:latin typeface="Consolas" pitchFamily="34" charset="0"/>
                <a:ea typeface="Consolas" pitchFamily="34" charset="-122"/>
                <a:cs typeface="Consolas" pitchFamily="34" charset="-120"/>
              </a:rPr>
              <a:t>Accede al proyecto</a:t>
            </a:r>
            <a:endParaRPr lang="es-ES" sz="2700" noProof="0" dirty="0"/>
          </a:p>
        </p:txBody>
      </p:sp>
      <p:sp>
        <p:nvSpPr>
          <p:cNvPr id="5" name="Subtitle"/>
          <p:cNvSpPr/>
          <p:nvPr/>
        </p:nvSpPr>
        <p:spPr>
          <a:xfrm>
            <a:off x="542880" y="1290000"/>
            <a:ext cx="11091672" cy="337744"/>
          </a:xfrm>
          <a:prstGeom prst="rect">
            <a:avLst/>
          </a:prstGeom>
          <a:noFill/>
          <a:ln/>
        </p:spPr>
        <p:txBody>
          <a:bodyPr wrap="square" lIns="0" tIns="0" rIns="0" bIns="0" rtlCol="0" anchor="ctr"/>
          <a:lstStyle/>
          <a:p>
            <a:pPr marL="0" indent="0" algn="ctr">
              <a:buNone/>
            </a:pPr>
            <a:r>
              <a:rPr lang="es-ES" sz="2000" b="0" kern="0" noProof="0" dirty="0">
                <a:solidFill>
                  <a:srgbClr val="6B7280"/>
                </a:solidFill>
                <a:latin typeface="Consolas" pitchFamily="34" charset="0"/>
                <a:ea typeface="Consolas" pitchFamily="34" charset="-122"/>
                <a:cs typeface="Consolas" pitchFamily="34" charset="-120"/>
                <a:hlinkClick r:id="rId3" action="ppaction://hlinkfile"/>
              </a:rPr>
              <a:t>Batería de preguntas de ejemplo.</a:t>
            </a:r>
            <a:endParaRPr lang="es-ES" sz="2000" noProof="0" dirty="0"/>
          </a:p>
        </p:txBody>
      </p:sp>
      <p:sp>
        <p:nvSpPr>
          <p:cNvPr id="10" name="Card 1 bg"/>
          <p:cNvSpPr/>
          <p:nvPr/>
        </p:nvSpPr>
        <p:spPr>
          <a:xfrm>
            <a:off x="548640" y="1780000"/>
            <a:ext cx="5395836" cy="2050000"/>
          </a:xfrm>
          <a:prstGeom prst="roundRect">
            <a:avLst>
              <a:gd name="adj" fmla="val 5455"/>
            </a:avLst>
          </a:prstGeom>
          <a:solidFill>
            <a:srgbClr val="DEEBF7"/>
          </a:solidFill>
          <a:ln w="9525">
            <a:solidFill>
              <a:srgbClr val="CFD8DC"/>
            </a:solidFill>
            <a:prstDash val="solid"/>
          </a:ln>
        </p:spPr>
        <p:txBody>
          <a:bodyPr/>
          <a:lstStyle/>
          <a:p>
            <a:endParaRPr lang="es-ES" noProof="0"/>
          </a:p>
        </p:txBody>
      </p:sp>
      <p:pic>
        <p:nvPicPr>
          <p:cNvPr id="20" name="QR Repositorio"/>
          <p:cNvPicPr>
            <a:picLocks noChangeAspect="1"/>
          </p:cNvPicPr>
          <p:nvPr/>
        </p:nvPicPr>
        <p:blipFill>
          <a:blip r:embed="rId4"/>
          <a:stretch>
            <a:fillRect/>
          </a:stretch>
        </p:blipFill>
        <p:spPr>
          <a:xfrm>
            <a:off x="798640" y="1955000"/>
            <a:ext cx="1700000" cy="1700000"/>
          </a:xfrm>
          <a:prstGeom prst="rect">
            <a:avLst/>
          </a:prstGeom>
        </p:spPr>
      </p:pic>
      <p:sp>
        <p:nvSpPr>
          <p:cNvPr id="30" name="Card 1 text"/>
          <p:cNvSpPr/>
          <p:nvPr/>
        </p:nvSpPr>
        <p:spPr>
          <a:xfrm>
            <a:off x="2748640" y="1780000"/>
            <a:ext cx="2945836" cy="2050000"/>
          </a:xfrm>
          <a:prstGeom prst="rect">
            <a:avLst/>
          </a:prstGeom>
          <a:noFill/>
          <a:ln/>
        </p:spPr>
        <p:txBody>
          <a:bodyPr wrap="square" lIns="0" tIns="0" rIns="0" bIns="0" rtlCol="0" anchor="ctr"/>
          <a:lstStyle/>
          <a:p>
            <a:pPr marL="0" indent="0">
              <a:buNone/>
            </a:pPr>
            <a:r>
              <a:rPr lang="es-ES" sz="1800" b="1" noProof="0" dirty="0">
                <a:solidFill>
                  <a:srgbClr val="1A2A33"/>
                </a:solidFill>
                <a:latin typeface="Consolas" pitchFamily="34" charset="0"/>
                <a:ea typeface="Consolas" pitchFamily="34" charset="-122"/>
                <a:cs typeface="Consolas" pitchFamily="34" charset="-120"/>
              </a:rPr>
              <a:t>Repositorio</a:t>
            </a:r>
          </a:p>
          <a:p>
            <a:pPr marL="0" indent="0">
              <a:buNone/>
            </a:pPr>
            <a:r>
              <a:rPr lang="es-ES" sz="1200" noProof="0" dirty="0">
                <a:solidFill>
                  <a:srgbClr val="4472C4"/>
                </a:solidFill>
                <a:latin typeface="Consolas" pitchFamily="34" charset="0"/>
                <a:ea typeface="Consolas" pitchFamily="34" charset="-122"/>
                <a:cs typeface="Consolas" pitchFamily="34" charset="-120"/>
                <a:hlinkClick r:id="rId5"/>
              </a:rPr>
              <a:t>github.com/Bootcamp-IA-P6/amafe-responde</a:t>
            </a:r>
            <a:endParaRPr lang="es-ES" sz="1200" noProof="0" dirty="0">
              <a:solidFill>
                <a:srgbClr val="4472C4"/>
              </a:solidFill>
              <a:latin typeface="Consolas" pitchFamily="34" charset="0"/>
              <a:ea typeface="Consolas" pitchFamily="34" charset="-122"/>
              <a:cs typeface="Consolas" pitchFamily="34" charset="-120"/>
            </a:endParaRPr>
          </a:p>
        </p:txBody>
      </p:sp>
      <p:sp>
        <p:nvSpPr>
          <p:cNvPr id="11" name="Card 2 bg"/>
          <p:cNvSpPr/>
          <p:nvPr/>
        </p:nvSpPr>
        <p:spPr>
          <a:xfrm>
            <a:off x="548640" y="3980000"/>
            <a:ext cx="5395836" cy="2050000"/>
          </a:xfrm>
          <a:prstGeom prst="roundRect">
            <a:avLst>
              <a:gd name="adj" fmla="val 5455"/>
            </a:avLst>
          </a:prstGeom>
          <a:solidFill>
            <a:srgbClr val="DEEBF7"/>
          </a:solidFill>
          <a:ln w="9525">
            <a:solidFill>
              <a:srgbClr val="CFD8DC"/>
            </a:solidFill>
            <a:prstDash val="solid"/>
          </a:ln>
        </p:spPr>
        <p:txBody>
          <a:bodyPr/>
          <a:lstStyle/>
          <a:p>
            <a:endParaRPr lang="es-ES" noProof="0"/>
          </a:p>
        </p:txBody>
      </p:sp>
      <p:pic>
        <p:nvPicPr>
          <p:cNvPr id="21" name="QR App en vivo"/>
          <p:cNvPicPr>
            <a:picLocks noChangeAspect="1"/>
          </p:cNvPicPr>
          <p:nvPr/>
        </p:nvPicPr>
        <p:blipFill>
          <a:blip r:embed="rId6"/>
          <a:stretch>
            <a:fillRect/>
          </a:stretch>
        </p:blipFill>
        <p:spPr>
          <a:xfrm>
            <a:off x="798640" y="4155000"/>
            <a:ext cx="1700000" cy="1700000"/>
          </a:xfrm>
          <a:prstGeom prst="rect">
            <a:avLst/>
          </a:prstGeom>
        </p:spPr>
      </p:pic>
      <p:sp>
        <p:nvSpPr>
          <p:cNvPr id="31" name="Card 2 text"/>
          <p:cNvSpPr/>
          <p:nvPr/>
        </p:nvSpPr>
        <p:spPr>
          <a:xfrm>
            <a:off x="2748640" y="3980000"/>
            <a:ext cx="2945836" cy="2050000"/>
          </a:xfrm>
          <a:prstGeom prst="rect">
            <a:avLst/>
          </a:prstGeom>
          <a:noFill/>
          <a:ln/>
        </p:spPr>
        <p:txBody>
          <a:bodyPr wrap="square" lIns="0" tIns="0" rIns="0" bIns="0" rtlCol="0" anchor="ctr"/>
          <a:lstStyle/>
          <a:p>
            <a:pPr marL="0" indent="0">
              <a:buNone/>
            </a:pPr>
            <a:r>
              <a:rPr lang="es-ES" sz="1800" b="1" noProof="0" dirty="0">
                <a:solidFill>
                  <a:srgbClr val="1A2A33"/>
                </a:solidFill>
                <a:latin typeface="Consolas" pitchFamily="34" charset="0"/>
                <a:ea typeface="Consolas" pitchFamily="34" charset="-122"/>
                <a:cs typeface="Consolas" pitchFamily="34" charset="-120"/>
              </a:rPr>
              <a:t>App en vivo</a:t>
            </a:r>
          </a:p>
          <a:p>
            <a:pPr marL="0" indent="0">
              <a:buNone/>
            </a:pPr>
            <a:r>
              <a:rPr lang="es-ES" sz="1200" noProof="0" dirty="0">
                <a:solidFill>
                  <a:srgbClr val="4472C4"/>
                </a:solidFill>
                <a:latin typeface="Consolas" pitchFamily="34" charset="0"/>
                <a:ea typeface="Consolas" pitchFamily="34" charset="-122"/>
                <a:cs typeface="Consolas" pitchFamily="34" charset="-120"/>
                <a:hlinkClick r:id="rId7"/>
              </a:rPr>
              <a:t>amafe-</a:t>
            </a:r>
            <a:r>
              <a:rPr lang="es-ES" sz="1200" noProof="0" dirty="0" err="1">
                <a:solidFill>
                  <a:srgbClr val="4472C4"/>
                </a:solidFill>
                <a:latin typeface="Consolas" pitchFamily="34" charset="0"/>
                <a:ea typeface="Consolas" pitchFamily="34" charset="-122"/>
                <a:cs typeface="Consolas" pitchFamily="34" charset="-120"/>
                <a:hlinkClick r:id="rId7"/>
              </a:rPr>
              <a:t>responde.streamlit.app</a:t>
            </a:r>
            <a:endParaRPr lang="es-ES" sz="1200" noProof="0" dirty="0">
              <a:solidFill>
                <a:srgbClr val="4472C4"/>
              </a:solidFill>
              <a:latin typeface="Consolas" pitchFamily="34" charset="0"/>
              <a:ea typeface="Consolas" pitchFamily="34" charset="-122"/>
              <a:cs typeface="Consolas" pitchFamily="34" charset="-120"/>
            </a:endParaRPr>
          </a:p>
        </p:txBody>
      </p:sp>
      <p:sp>
        <p:nvSpPr>
          <p:cNvPr id="12" name="Card 3 bg"/>
          <p:cNvSpPr/>
          <p:nvPr/>
        </p:nvSpPr>
        <p:spPr>
          <a:xfrm>
            <a:off x="6244476" y="3980000"/>
            <a:ext cx="5395836" cy="2050000"/>
          </a:xfrm>
          <a:prstGeom prst="roundRect">
            <a:avLst>
              <a:gd name="adj" fmla="val 5455"/>
            </a:avLst>
          </a:prstGeom>
          <a:solidFill>
            <a:srgbClr val="DEEBF7"/>
          </a:solidFill>
          <a:ln w="9525">
            <a:solidFill>
              <a:srgbClr val="CFD8DC"/>
            </a:solidFill>
            <a:prstDash val="solid"/>
          </a:ln>
        </p:spPr>
        <p:txBody>
          <a:bodyPr/>
          <a:lstStyle/>
          <a:p>
            <a:endParaRPr lang="es-ES" noProof="0"/>
          </a:p>
        </p:txBody>
      </p:sp>
      <p:pic>
        <p:nvPicPr>
          <p:cNvPr id="22" name="QR App Docker"/>
          <p:cNvPicPr>
            <a:picLocks noChangeAspect="1"/>
          </p:cNvPicPr>
          <p:nvPr/>
        </p:nvPicPr>
        <p:blipFill>
          <a:blip r:embed="rId8"/>
          <a:stretch>
            <a:fillRect/>
          </a:stretch>
        </p:blipFill>
        <p:spPr>
          <a:xfrm>
            <a:off x="6494476" y="4155000"/>
            <a:ext cx="1700000" cy="1700000"/>
          </a:xfrm>
          <a:prstGeom prst="rect">
            <a:avLst/>
          </a:prstGeom>
        </p:spPr>
      </p:pic>
      <p:sp>
        <p:nvSpPr>
          <p:cNvPr id="32" name="Card 3 text"/>
          <p:cNvSpPr/>
          <p:nvPr/>
        </p:nvSpPr>
        <p:spPr>
          <a:xfrm>
            <a:off x="8444476" y="3980000"/>
            <a:ext cx="2945836" cy="2050000"/>
          </a:xfrm>
          <a:prstGeom prst="rect">
            <a:avLst/>
          </a:prstGeom>
          <a:noFill/>
          <a:ln/>
        </p:spPr>
        <p:txBody>
          <a:bodyPr wrap="square" lIns="0" tIns="0" rIns="0" bIns="0" rtlCol="0" anchor="ctr"/>
          <a:lstStyle/>
          <a:p>
            <a:pPr marL="0" indent="0">
              <a:buNone/>
            </a:pPr>
            <a:r>
              <a:rPr lang="es-ES" sz="1800" b="1" noProof="0" dirty="0">
                <a:solidFill>
                  <a:srgbClr val="1A2A33"/>
                </a:solidFill>
                <a:latin typeface="Consolas" pitchFamily="34" charset="0"/>
                <a:ea typeface="Consolas" pitchFamily="34" charset="-122"/>
                <a:cs typeface="Consolas" pitchFamily="34" charset="-120"/>
              </a:rPr>
              <a:t>App en vivo (Docker)</a:t>
            </a:r>
          </a:p>
          <a:p>
            <a:pPr marL="0" indent="0">
              <a:buNone/>
            </a:pPr>
            <a:r>
              <a:rPr lang="es-ES" sz="1200" noProof="0" dirty="0">
                <a:solidFill>
                  <a:srgbClr val="4472C4"/>
                </a:solidFill>
                <a:latin typeface="Consolas" pitchFamily="34" charset="0"/>
                <a:ea typeface="Consolas" pitchFamily="34" charset="-122"/>
                <a:cs typeface="Consolas" pitchFamily="34" charset="-120"/>
                <a:hlinkClick r:id="rId9"/>
              </a:rPr>
              <a:t>huggingface.co/</a:t>
            </a:r>
            <a:r>
              <a:rPr lang="es-ES" sz="1200" noProof="0" dirty="0" err="1">
                <a:solidFill>
                  <a:srgbClr val="4472C4"/>
                </a:solidFill>
                <a:latin typeface="Consolas" pitchFamily="34" charset="0"/>
                <a:ea typeface="Consolas" pitchFamily="34" charset="-122"/>
                <a:cs typeface="Consolas" pitchFamily="34" charset="-120"/>
                <a:hlinkClick r:id="rId9"/>
              </a:rPr>
              <a:t>spaces</a:t>
            </a:r>
            <a:r>
              <a:rPr lang="es-ES" sz="1200" noProof="0" dirty="0">
                <a:solidFill>
                  <a:srgbClr val="4472C4"/>
                </a:solidFill>
                <a:latin typeface="Consolas" pitchFamily="34" charset="0"/>
                <a:ea typeface="Consolas" pitchFamily="34" charset="-122"/>
                <a:cs typeface="Consolas" pitchFamily="34" charset="-120"/>
                <a:hlinkClick r:id="rId9"/>
              </a:rPr>
              <a:t>/JJRSE/amafe-responde</a:t>
            </a:r>
            <a:endParaRPr lang="es-ES" sz="1200" noProof="0" dirty="0">
              <a:solidFill>
                <a:srgbClr val="4472C4"/>
              </a:solidFill>
              <a:latin typeface="Consolas" pitchFamily="34" charset="0"/>
              <a:ea typeface="Consolas" pitchFamily="34" charset="-122"/>
              <a:cs typeface="Consolas" pitchFamily="34" charset="-120"/>
            </a:endParaRPr>
          </a:p>
        </p:txBody>
      </p:sp>
      <p:sp>
        <p:nvSpPr>
          <p:cNvPr id="13" name="Card 4 bg"/>
          <p:cNvSpPr/>
          <p:nvPr/>
        </p:nvSpPr>
        <p:spPr>
          <a:xfrm>
            <a:off x="6244476" y="1780000"/>
            <a:ext cx="5395836" cy="2050000"/>
          </a:xfrm>
          <a:prstGeom prst="roundRect">
            <a:avLst>
              <a:gd name="adj" fmla="val 5455"/>
            </a:avLst>
          </a:prstGeom>
          <a:solidFill>
            <a:srgbClr val="DEEBF7"/>
          </a:solidFill>
          <a:ln w="9525">
            <a:solidFill>
              <a:srgbClr val="CFD8DC"/>
            </a:solidFill>
            <a:prstDash val="solid"/>
          </a:ln>
        </p:spPr>
        <p:txBody>
          <a:bodyPr/>
          <a:lstStyle/>
          <a:p>
            <a:endParaRPr lang="es-ES" noProof="0"/>
          </a:p>
        </p:txBody>
      </p:sp>
      <p:pic>
        <p:nvPicPr>
          <p:cNvPr id="23" name="QR Tablero Kanban"/>
          <p:cNvPicPr>
            <a:picLocks noChangeAspect="1"/>
          </p:cNvPicPr>
          <p:nvPr/>
        </p:nvPicPr>
        <p:blipFill>
          <a:blip r:embed="rId10"/>
          <a:stretch>
            <a:fillRect/>
          </a:stretch>
        </p:blipFill>
        <p:spPr>
          <a:xfrm>
            <a:off x="6494476" y="1955000"/>
            <a:ext cx="1700000" cy="1700000"/>
          </a:xfrm>
          <a:prstGeom prst="rect">
            <a:avLst/>
          </a:prstGeom>
        </p:spPr>
      </p:pic>
      <p:sp>
        <p:nvSpPr>
          <p:cNvPr id="33" name="Card 4 text"/>
          <p:cNvSpPr/>
          <p:nvPr/>
        </p:nvSpPr>
        <p:spPr>
          <a:xfrm>
            <a:off x="8444476" y="1780000"/>
            <a:ext cx="2945836" cy="2050000"/>
          </a:xfrm>
          <a:prstGeom prst="rect">
            <a:avLst/>
          </a:prstGeom>
          <a:noFill/>
          <a:ln/>
        </p:spPr>
        <p:txBody>
          <a:bodyPr wrap="square" lIns="0" tIns="0" rIns="0" bIns="0" rtlCol="0" anchor="ctr"/>
          <a:lstStyle/>
          <a:p>
            <a:pPr marL="0" indent="0">
              <a:buNone/>
            </a:pPr>
            <a:r>
              <a:rPr lang="es-ES" sz="1800" b="1" noProof="0" dirty="0">
                <a:solidFill>
                  <a:srgbClr val="1A2A33"/>
                </a:solidFill>
                <a:latin typeface="Consolas" pitchFamily="34" charset="0"/>
                <a:ea typeface="Consolas" pitchFamily="34" charset="-122"/>
                <a:cs typeface="Consolas" pitchFamily="34" charset="-120"/>
              </a:rPr>
              <a:t>Tablero Kanban</a:t>
            </a:r>
          </a:p>
          <a:p>
            <a:pPr marL="0" indent="0">
              <a:buNone/>
            </a:pPr>
            <a:r>
              <a:rPr lang="es-ES" sz="1200" noProof="0" dirty="0">
                <a:solidFill>
                  <a:srgbClr val="4472C4"/>
                </a:solidFill>
                <a:latin typeface="Consolas" pitchFamily="34" charset="0"/>
                <a:ea typeface="Consolas" pitchFamily="34" charset="-122"/>
                <a:cs typeface="Consolas" pitchFamily="34" charset="-120"/>
                <a:hlinkClick r:id="rId11"/>
              </a:rPr>
              <a:t>github.com/</a:t>
            </a:r>
            <a:r>
              <a:rPr lang="es-ES" sz="1200" noProof="0" dirty="0" err="1">
                <a:solidFill>
                  <a:srgbClr val="4472C4"/>
                </a:solidFill>
                <a:latin typeface="Consolas" pitchFamily="34" charset="0"/>
                <a:ea typeface="Consolas" pitchFamily="34" charset="-122"/>
                <a:cs typeface="Consolas" pitchFamily="34" charset="-120"/>
                <a:hlinkClick r:id="rId11"/>
              </a:rPr>
              <a:t>orgs</a:t>
            </a:r>
            <a:r>
              <a:rPr lang="es-ES" sz="1200" noProof="0" dirty="0">
                <a:solidFill>
                  <a:srgbClr val="4472C4"/>
                </a:solidFill>
                <a:latin typeface="Consolas" pitchFamily="34" charset="0"/>
                <a:ea typeface="Consolas" pitchFamily="34" charset="-122"/>
                <a:cs typeface="Consolas" pitchFamily="34" charset="-120"/>
                <a:hlinkClick r:id="rId11"/>
              </a:rPr>
              <a:t>/Bootcamp-IA-P6/</a:t>
            </a:r>
            <a:r>
              <a:rPr lang="es-ES" sz="1200" noProof="0" dirty="0" err="1">
                <a:solidFill>
                  <a:srgbClr val="4472C4"/>
                </a:solidFill>
                <a:latin typeface="Consolas" pitchFamily="34" charset="0"/>
                <a:ea typeface="Consolas" pitchFamily="34" charset="-122"/>
                <a:cs typeface="Consolas" pitchFamily="34" charset="-120"/>
                <a:hlinkClick r:id="rId11"/>
              </a:rPr>
              <a:t>projects</a:t>
            </a:r>
            <a:r>
              <a:rPr lang="es-ES" sz="1200" noProof="0" dirty="0">
                <a:solidFill>
                  <a:srgbClr val="4472C4"/>
                </a:solidFill>
                <a:latin typeface="Consolas" pitchFamily="34" charset="0"/>
                <a:ea typeface="Consolas" pitchFamily="34" charset="-122"/>
                <a:cs typeface="Consolas" pitchFamily="34" charset="-120"/>
                <a:hlinkClick r:id="rId11"/>
              </a:rPr>
              <a:t>/77</a:t>
            </a:r>
            <a:endParaRPr lang="es-ES" sz="1200" noProof="0" dirty="0">
              <a:solidFill>
                <a:srgbClr val="4472C4"/>
              </a:solidFill>
              <a:latin typeface="Consolas" pitchFamily="34" charset="0"/>
              <a:ea typeface="Consolas" pitchFamily="34" charset="-122"/>
              <a:cs typeface="Consolas" pitchFamily="34" charset="-120"/>
            </a:endParaRPr>
          </a:p>
        </p:txBody>
      </p:sp>
      <p:sp>
        <p:nvSpPr>
          <p:cNvPr id="4" name="Footer"/>
          <p:cNvSpPr/>
          <p:nvPr/>
        </p:nvSpPr>
        <p:spPr>
          <a:xfrm>
            <a:off x="10469880" y="6419088"/>
            <a:ext cx="1188720" cy="237744"/>
          </a:xfrm>
          <a:prstGeom prst="rect">
            <a:avLst/>
          </a:prstGeom>
          <a:noFill/>
          <a:ln/>
        </p:spPr>
        <p:txBody>
          <a:bodyPr wrap="square" lIns="0" tIns="0" rIns="0" bIns="0" rtlCol="0" anchor="ctr"/>
          <a:lstStyle/>
          <a:p>
            <a:pPr marL="0" indent="0" algn="r">
              <a:buNone/>
            </a:pPr>
            <a:r>
              <a:rPr lang="es-ES" sz="1600" noProof="0">
                <a:solidFill>
                  <a:srgbClr val="6B7280"/>
                </a:solidFill>
                <a:latin typeface="Consolas" pitchFamily="34" charset="0"/>
                <a:ea typeface="Consolas" pitchFamily="34" charset="-122"/>
                <a:cs typeface="Consolas" pitchFamily="34" charset="-120"/>
              </a:rPr>
              <a:t>12 de 12</a:t>
            </a:r>
            <a:endParaRPr lang="es-ES" sz="1600" noProof="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6134</TotalTime>
  <Words>3609</Words>
  <Application>Microsoft Office PowerPoint</Application>
  <PresentationFormat>Panorámica</PresentationFormat>
  <Paragraphs>263</Paragraphs>
  <Slides>13</Slides>
  <Notes>13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13</vt:i4>
      </vt:variant>
    </vt:vector>
  </HeadingPairs>
  <TitlesOfParts>
    <vt:vector size="18" baseType="lpstr">
      <vt:lpstr>Aptos</vt:lpstr>
      <vt:lpstr>Arial</vt:lpstr>
      <vt:lpstr>Calibri</vt:lpstr>
      <vt:lpstr>Consolas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AMAFE Responde - presentacion visual 10+1</dc:title>
  <dc:subject>PptxGenJS Presentation</dc:subject>
  <dc:creator>Jose-Julio Ramirez y Sanchez-Escobar</dc:creator>
  <cp:lastModifiedBy>Jose Julio Ramírez Sánchez-Escobar</cp:lastModifiedBy>
  <cp:revision>58</cp:revision>
  <dcterms:created xsi:type="dcterms:W3CDTF">2026-07-27T13:14:20Z</dcterms:created>
  <dcterms:modified xsi:type="dcterms:W3CDTF">2026-08-05T09:19:56Z</dcterms:modified>
</cp:coreProperties>
</file>